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[0:00-0:45  TITLE]</a:t>
            </a:r>
          </a:p>
          <a:p/>
          <a:p>
            <a:r>
              <a:t>Good morning/afternoon. My name is Navaneetha Thalakokkula and this is my MSc Cloud Computing dissertation at National College of Ireland.</a:t>
            </a:r>
          </a:p>
          <a:p/>
          <a:p>
            <a:r>
              <a:t>The work is on carbon-aware cloud task scheduling. In one sentence: I take the family of metaheuristic schedulers that the literature has used for ENERGY and COST, and I ask whether one of them - the Whale Optimization Algorithm - can be adapted to cut CARBON instead, without breaking deadlines.</a:t>
            </a:r>
          </a:p>
          <a:p/>
          <a:p>
            <a:r>
              <a:t>I'll take about 25 minutes, then I'm happy to take questions.</a:t>
            </a:r>
          </a:p>
          <a:p/>
          <a:p>
            <a:r>
              <a:t>DELIVERY NOTE: don't rush this slide. Let them read the title. Breathe.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[0:45-1:30  ROADMAP]</a:t>
            </a:r>
          </a:p>
          <a:p/>
          <a:p>
            <a:r>
              <a:t>Quick map of where we're going, so you know when the results arrive.</a:t>
            </a:r>
          </a:p>
          <a:p/>
          <a:p>
            <a:r>
              <a:t>I'll spend about five minutes on motivation and the gap in the literature, five on the method, ten on results - which is the bulk - and the last five on limitations and contribution.</a:t>
            </a:r>
          </a:p>
          <a:p/>
          <a:p>
            <a:r>
              <a:t>The single most important slide is number 15, the main results table. If you remember one thing from today, I'd like it to be that one.</a:t>
            </a:r>
          </a:p>
          <a:p/>
          <a:p>
            <a:r>
              <a:t>DELIVERY: point at the screen as you say each block. Keep this under a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[1:30-3:00  MOTIVATION]</a:t>
            </a:r>
          </a:p>
          <a:p/>
          <a:p>
            <a:r>
              <a:t>Data centres are somewhere between 1 and 1.5 percent of global electricity, and the AI build-out is pushing that up sharply.</a:t>
            </a:r>
          </a:p>
          <a:p/>
          <a:p>
            <a:r>
              <a:t>The instinctive response is efficiency - better hardware, better cooling, consolidation. That's necessary but it has a floor: you can only make a server so efficient.</a:t>
            </a:r>
          </a:p>
          <a:p/>
          <a:p>
            <a:r>
              <a:t>THE KEY POINT - and this is the hinge of the whole thesis: a kilowatt-hour is not a fixed amount of carbon. The same kilowatt-hour drawn at 3am when the wind is blowing carries a fraction of the emissions of one drawn at 6pm on a still evening, because the generation mix on the grid has changed.</a:t>
            </a:r>
          </a:p>
          <a:p/>
          <a:p>
            <a:r>
              <a:t>So there are two levers, not one. Use less energy, OR use the same energy at a better time. The second lever is almost free if the job can wait - and a large fraction of cloud work genuinely can wait. Batch analytics, ML training, backups, CI pipelines, report generation. Nobody is watching them run.</a:t>
            </a:r>
          </a:p>
          <a:p/>
          <a:p>
            <a:r>
              <a:t>That's the opportunity this thesis goes after.</a:t>
            </a:r>
          </a:p>
          <a:p/>
          <a:p>
            <a:r>
              <a:t>IF ASKED for the source on data centre share: IEA Electricity 2024 report. Be honest that estimates vary by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[3:00-4:15  CORE IDEA]</a:t>
            </a:r>
          </a:p>
          <a:p/>
          <a:p>
            <a:r>
              <a:t>This is the mechanism in its simplest form.</a:t>
            </a:r>
          </a:p>
          <a:p/>
          <a:p>
            <a:r>
              <a:t>First, the concrete size of the opportunity, because this is the number that justifies the whole thesis. Over my three-day UK window the grid's carbon intensity ranged from 51 to 203 grams of CO2 per kilowatt-hour. That is a fourfold swing. The identical kilowatt-hour is four times dirtier at the wrong moment than at the right one - and that headroom is what the scheduler is exploiting. If the grid were flat, this thesis would have nothing to work with.</a:t>
            </a:r>
          </a:p>
          <a:p/>
          <a:p>
            <a:r>
              <a:t>Take a job that arrives at time t, takes d slots to run, and must finish by its deadline. Between its arrival and its deadline there is slack. Within that slack there are several legal start times, and each one has a different carbon cost, because each one overlaps a different stretch of the grid's carbon curve.</a:t>
            </a:r>
          </a:p>
          <a:p/>
          <a:p>
            <a:r>
              <a:t>Scheduling then becomes a search problem: for sixty jobs, each with a window of legal start times, find the combination that minimises total carbon while every job still meets its deadline.</a:t>
            </a:r>
          </a:p>
          <a:p/>
          <a:p>
            <a:r>
              <a:t>Note what we are NOT doing. We are not making the servers more efficient. The energy consumed is essentially identical. We are only changing WHEN it is drawn. That's why I call this a near-free reduction.</a:t>
            </a:r>
          </a:p>
          <a:p/>
          <a:p>
            <a:r>
              <a:t>And note the constraint that makes it hard: if you ignore deadlines, this is trivial - shove everything into the greenest hour. The difficulty is doing it while honouring the SLA, and that tension shows up throughout my results.</a:t>
            </a:r>
          </a:p>
          <a:p/>
          <a:p>
            <a:r>
              <a:t>DELIVERY: this is the slide where the examiner should 'get it'. Slow 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[4:15-5:30  LITERATURE]</a:t>
            </a:r>
          </a:p>
          <a:p/>
          <a:p>
            <a:r>
              <a:t>I reviewed twelve papers covering the metaheuristic scheduling space. Every one was verified as real - I downloaded the open-access PDFs and checked the title pages, and for the paywalled ones I confirmed the citation against Crossref's DOI metadata. Several entries in my original reading list had wrong or blank author and year fields, and I corrected them. The verified index is in the repository.</a:t>
            </a:r>
          </a:p>
          <a:p/>
          <a:p>
            <a:r>
              <a:t>I flag that deliberately because fabricated or sloppy citations are a real problem right now, and I wanted this to be checkable.</a:t>
            </a:r>
          </a:p>
          <a:p/>
          <a:p>
            <a:r>
              <a:t>The landscape splits cleanly. The large majority of the work optimises ENERGY or COST - that's EEOA, the Harris Hawk placement work, the GWO virtual machine placement work, Green-PSO, the hybrid GA-GWO. They are mature and well benchmarked.</a:t>
            </a:r>
          </a:p>
          <a:p/>
          <a:p>
            <a:r>
              <a:t>A much smaller group is explicitly carbon-aware: HAPSO, Abbasi-khazaei and Rezvani, the ECMR edge-cloud scheme, and the geographically-distributed placement work. These four are my anchors - they establish that carbon-aware scheduling is a live research question.</a:t>
            </a:r>
          </a:p>
          <a:p/>
          <a:p>
            <a:r>
              <a:t>IF ASKED which paper is closest to mine: #11, Khodayarseresht et al., but theirs is SPATIAL - moving load between regions - where mine is TEMPORAL.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[5:30-6:45  GAP AND RESEARCH QUESTION]</a:t>
            </a:r>
          </a:p>
          <a:p/>
          <a:p>
            <a:r>
              <a:t>Putting the two halves of that literature together gives me the gap.</a:t>
            </a:r>
          </a:p>
          <a:p/>
          <a:p>
            <a:r>
              <a:t>The Whale Optimization Algorithm has been applied to cloud scheduling repeatedly - the EWOA paper from 2024 is a good example - but always for makespan, energy or cost. As far as my review found, it has not been applied to carbon-aware temporal scheduling. That's gap number one, and it's the narrow, honest, defensible one.</a:t>
            </a:r>
          </a:p>
          <a:p/>
          <a:p>
            <a:r>
              <a:t>Gap number two is arguably more useful to the field. Because every paper uses a different workload and different assumptions, you genuinely cannot tell from the published literature whether GWO beats PSO on this problem. Nobody has run them on one common benchmark with one common objective function. So part of my contribution is simply building that level playing field.</a:t>
            </a:r>
          </a:p>
          <a:p/>
          <a:p>
            <a:r>
              <a:t>Hence my research question - read it off the slide.</a:t>
            </a:r>
          </a:p>
          <a:p/>
          <a:p>
            <a:r>
              <a:t>IMPORTANT - IF CHALLENGED ON NOVELTY, and you may well be: do not oversell. My claim is NOT that I invented a new metaheuristic. WOA is Mirjalili and Lewis, 2016. My claim is a new APPLICATION of WOA to carbon, plus a domain-specific enhancement - the carbon-aware seeding - plus the common benchmark. Say that plainly and confidently. Overclaiming is what gets punished in a viva; a modest, precise claim that you can fully defend is what passes.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[6:45-8:00  DATA]</a:t>
            </a:r>
          </a:p>
          <a:p/>
          <a:p>
            <a:r>
              <a:t>This is a deliberate design decision and one of the things I'd defend hardest.</a:t>
            </a:r>
          </a:p>
          <a:p/>
          <a:p>
            <a:r>
              <a:t>The workload is the Google Cluster Trace from 2011. It's the standard public trace for this kind of work. I parse the task events table, take submit events and their corresponding finish events, compute real durations from the timestamps, and take the real CPU requests as the utilisation figure. So task durations and sizes are things that actually happened in a production Google datacentre, not numbers I chose.</a:t>
            </a:r>
          </a:p>
          <a:p/>
          <a:p>
            <a:r>
              <a:t>The carbon side is the UK National Grid carbon intensity API - real half-hourly measurements, 48 slots a day, over a three-day window. That's the actual curve the UK grid followed on those days.</a:t>
            </a:r>
          </a:p>
          <a:p/>
          <a:p>
            <a:r>
              <a:t>Why this matters: if I generated a synthetic carbon curve, I could make it as peaky as I liked and manufacture whatever improvement I wanted. A flat curve gives zero headroom and a wildly swinging one gives enormous headroom. Using the real curve means the size of the opportunity is set by physics and the UK generation mix, not by me.</a:t>
            </a:r>
          </a:p>
          <a:p/>
          <a:p>
            <a:r>
              <a:t>The pricing is the one piece that is modelled rather than measured - a simple peak/off-peak tariff, 30p during the evening peak and 15p otherwise. I'm upfront that this is a simplification. It only affects the cost term, which is 30 percent of my objective.</a:t>
            </a:r>
          </a:p>
          <a:p/>
          <a:p>
            <a:r>
              <a:t>IF ASKED why the 2011 trace and not the 2019 one: size and tractability, and 2011 is the more widely used benchmark so comparison to prior work is easier. Concede that 2019 would be a reasonable extension.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[8:00-9:15  SYSTEM MODEL]</a:t>
            </a:r>
          </a:p>
          <a:p/>
          <a:p>
            <a:r>
              <a:t>Four equations, and I'll keep this brief because the maths is not the hard part.</a:t>
            </a:r>
          </a:p>
          <a:p/>
          <a:p>
            <a:r>
              <a:t>Server power is the standard linear idle-to-peak model used throughout this literature: 100 watts idle, 250 watts at full load, scaling linearly with utilisation. Multiply by the half-hour slot length and divide by a thousand and you have kilowatt-hours per slot.</a:t>
            </a:r>
          </a:p>
          <a:p/>
          <a:p>
            <a:r>
              <a:t>Carbon is that energy multiplied by the grid's carbon intensity in the slot the task actually occupies - this is the only term that depends on WHEN the task runs, and it's therefore the term the whole thesis manipulates.</a:t>
            </a:r>
          </a:p>
          <a:p/>
          <a:p>
            <a:r>
              <a:t>Cost is the same energy against the tariff for that slot.</a:t>
            </a:r>
          </a:p>
          <a:p/>
          <a:p>
            <a:r>
              <a:t>SLA violation is binary per task: did it finish by its deadline or not. I report it as a percentage of tasks that missed.</a:t>
            </a:r>
          </a:p>
          <a:p/>
          <a:p>
            <a:r>
              <a:t>IF ASKED to justify the linear power model: it's the standard assumption from the Fan, Weber and Barroso work and is used by essentially every paper in my review. Real servers are mildly non-linear. Since I apply the identical model to every algorithm, it cannot advantage one over another - it's a shared, transparent simplification.</a:t>
            </a:r>
          </a:p>
          <a:p/>
          <a:p>
            <a:r>
              <a:t>IF ASKED about the 100/250W numbers specifically: representative commodity server values; the ratio matters more than the absolute figures.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[9:15-10:30  FORMULATION]</a:t>
            </a:r>
          </a:p>
          <a:p/>
          <a:p>
            <a:r>
              <a:t>This slide is about a design decision that makes the comparison possible at all.</a:t>
            </a:r>
          </a:p>
          <a:p/>
          <a:p>
            <a:r>
              <a:t>Scheduling is discrete - a task starts in slot 12 or slot 13, never slot 12.4. But most of these metaheuristics are defined over continuous spaces. If I discretised each algorithm differently I'd be comparing my discretisation choices as much as the algorithms.</a:t>
            </a:r>
          </a:p>
          <a:p/>
          <a:p>
            <a:r>
              <a:t>So I use a continuous encoding. A candidate solution is a vector of sixty real numbers, each between zero and one. Element i is the fractional deferral of task i within its legal room. Decoding multiplies that fraction by the room available and rounds.</a:t>
            </a:r>
          </a:p>
          <a:p/>
          <a:p>
            <a:r>
              <a:t>Room is capped two ways: by the horizon, and by a maximum deferral of 24 slots - twelve hours. That cap is a realism constraint. Without it the optimiser would happily push work days into the future, which no operator would accept.</a:t>
            </a:r>
          </a:p>
          <a:p/>
          <a:p>
            <a:r>
              <a:t>The elegance is that every algorithm - WOA, GWO, PSO, DE, HHO, GA - searches the identical unit hypercube with the identical decoder. Nothing is tuned per algorithm. Any difference in results is a difference in search behaviour, not in problem encoding.</a:t>
            </a:r>
          </a:p>
          <a:p/>
          <a:p>
            <a:r>
              <a:t>IF ASKED about rounding bias: rounding does create small plateaus in the landscape. All algorithms face the same plateaus, so it doesn't bias the comparison, though it does mean the effective search space is smaller than the continuous one suggests.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[10:30-11:45  OBJECTIVE FUNCTION]</a:t>
            </a:r>
          </a:p>
          <a:p/>
          <a:p>
            <a:r>
              <a:t>This is the slide most likely to draw a methodological question, so I want to be precise.</a:t>
            </a:r>
          </a:p>
          <a:p/>
          <a:p>
            <a:r>
              <a:t>Three objectives: carbon, SLA violations, cost. They have incompatible units - kilograms, a percentage, and pounds sterling. You cannot simply add them.</a:t>
            </a:r>
          </a:p>
          <a:p/>
          <a:p>
            <a:r>
              <a:t>So each term is divided by the corresponding value from the FIFO baseline. That makes every term unitless and roughly order-one, where 1.0 means 'no better than doing nothing'. Then I take a convex weighted sum: 0.4 on carbon, 0.3 on SLA, 0.3 on cost, summing to exactly one. There's an assertion in the code enforcing that.</a:t>
            </a:r>
          </a:p>
          <a:p/>
          <a:p>
            <a:r>
              <a:t>I want to be transparent that this changed. An earlier version used a fixed three-times penalty multiplier on SLA violations. That was arbitrary - the magic number three had no justification, and because it wasn't normalised the terms weren't commensurable. I replaced it with this convex formulation, which is standard practice in multi-objective scheduling, and re-ran everything. The headline results were essentially unchanged, which is reassuring rather than disappointing.</a:t>
            </a:r>
          </a:p>
          <a:p/>
          <a:p>
            <a:r>
              <a:t>IF ASKED 'why 0.4/0.3/0.3?' - and expect this - the honest answer is: carbon is weighted highest because it is the thesis objective, and the remaining weight is split evenly because I had no principled basis for preferring SLA over cost. I do NOT claim these are optimal weights. A proper weight-sensitivity sweep is in my future work, and I'd flag it as the most valuable next experiment.</a:t>
            </a:r>
          </a:p>
          <a:p/>
          <a:p>
            <a:r>
              <a:t>IF PUSHED HARDER - 'shouldn't this be Pareto multi-objective?' - agree. Say: a weighted sum can only find solutions on the convex hull of the Pareto front, so NSGA-II or MOEA/D would be the rigorous treatment and would give the operator a front to choose from rather than one point. That's a genuine limitation and it's on my future work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[11:45-13:15  THE PROPOSED METHOD - most important method slide]</a:t>
            </a:r>
          </a:p>
          <a:p/>
          <a:p>
            <a:r>
              <a:t>Here is the actual contribution, and it is deliberately simple.</a:t>
            </a:r>
          </a:p>
          <a:p/>
          <a:p>
            <a:r>
              <a:t>Standard WOA initialises its population uniformly at random across the search space. For this problem that is wasteful, because we already know something the algorithm doesn't: we can see the carbon curve. We know roughly where good solutions live.</a:t>
            </a:r>
          </a:p>
          <a:p/>
          <a:p>
            <a:r>
              <a:t>So CA-WOA seeds the population instead of randomising it. Three parts.</a:t>
            </a:r>
          </a:p>
          <a:p/>
          <a:p>
            <a:r>
              <a:t>First, one greedy seed. For each task independently, scan every deadline-feasible start slot and pick the one with the lowest total carbon. That's a per-task optimum, and note it is constructed to respect the deadline by construction - it can never produce an SLA violation.</a:t>
            </a:r>
          </a:p>
          <a:p/>
          <a:p>
            <a:r>
              <a:t>Second, sixteen members - a third of the population of fifty - are that greedy seed with Gaussian noise, sigma 0.1, added. This gives diversity in the neighbourhood of the good region, so the algorithm can improve on greedy rather than being stuck at it.</a:t>
            </a:r>
          </a:p>
          <a:p/>
          <a:p>
            <a:r>
              <a:t>Third, the remaining thirty-three - two thirds, the clear majority - stay uniformly random, preserving genuine global exploration so the algorithm isn't trapped in whatever basin greedy happens to land in. Stress that: it is a mostly-random population with a small informed minority, not a greedy population with noise sprinkled on.</a:t>
            </a:r>
          </a:p>
          <a:p/>
          <a:p>
            <a:r>
              <a:t>Now, why isn't this just greedy? Because greedy is per-task and myopic - it optimises each task in isolation and is blind to interaction between tasks, particularly contention when many tasks pile into the same clean hour. WOA's search then refines the combination. You can see this in the numbers: greedy alone gives 82.56 percent in the capacity model, CA-WOA gives 83.25. The search adds real value on top of the seed.</a:t>
            </a:r>
          </a:p>
          <a:p/>
          <a:p>
            <a:r>
              <a:t>EXPECT THIS QUESTION: 'is seeding really novel enough?' Answer: the seeding TECHNIQUE is not novel in general - HAPSO uses ACO initialisation, that's exactly the same idea in spirit, and I cite it. What's new is the carbon-specific construction of the seed and its application to WOA on this problem. Be precise and modest. Do not claim more.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[13:15-14:30  EXPERIMENTAL DESIGN]</a:t>
            </a:r>
          </a:p>
          <a:p/>
          <a:p>
            <a:r>
              <a:t>This slide matters even if you're unconvinced by CA-WOA itself, because it addresses gap two from the literature.</a:t>
            </a:r>
          </a:p>
          <a:p/>
          <a:p>
            <a:r>
              <a:t>Every algorithm gets: the identical workload, the identical carbon series, the identical encoding and decoder, the identical fitness function, and the identical computational budget - 150 epochs, population 50. Same random seed, 42, so runs are reproducible. All six come from the same library, Mealpy 3.0.3, in their standard published form. I did not tune any of them, including my own.</a:t>
            </a:r>
          </a:p>
          <a:p/>
          <a:p>
            <a:r>
              <a:t>That last point cuts both ways and I should acknowledge it: using untuned defaults is fair in the sense of being equal treatment, but a tuned PSO might well beat an untuned PSO. So 'PSO performs worse here' means 'PSO with library defaults performs worse here', not 'PSO is inherently worse'.</a:t>
            </a:r>
          </a:p>
          <a:p/>
          <a:p>
            <a:r>
              <a:t>Baselines. FIFO with round-robin placement is the do-nothing reference - it's what an unmodified scheduler does, and every carbon reduction figure is relative to it. I also include an energy-aware consolidation baseline and a carbon-greedy baseline, which is important because it tests whether the metaheuristics earn their complexity. If a simple greedy heuristic matched them, that would be a finding worth reporting.</a:t>
            </a:r>
          </a:p>
          <a:p/>
          <a:p>
            <a:r>
              <a:t>IF ASKED about only using seed 42 - point forward to the robustness slide, where I run five seeds and report standard deviations. Don't get defensive; it's a fair question and you have the answer coming.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[14:30-14:45  SECTION BREAK]</a:t>
            </a:r>
          </a:p>
          <a:p/>
          <a:p>
            <a:r>
              <a:t>That's the method. Now the results - this is the part that matters.</a:t>
            </a:r>
          </a:p>
          <a:p/>
          <a:p>
            <a:r>
              <a:t>I'll show two experimental settings, then robustness, then scalability, then the forecasting arm.</a:t>
            </a:r>
          </a:p>
          <a:p/>
          <a:p>
            <a:r>
              <a:t>DELIVERY: pause here. Take a sip of water. Signal the shift.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[14:45-15:45  HEADLINE]</a:t>
            </a:r>
          </a:p>
          <a:p/>
          <a:p>
            <a:r>
              <a:t>The three numbers I'd like you to take away.</a:t>
            </a:r>
          </a:p>
          <a:p/>
          <a:p>
            <a:r>
              <a:t>83.25 percent carbon reduction against the FIFO baseline, in the host-capacity model. Zero percent SLA violations - not a single one of the sixty tasks missed its deadline. And 84 percent host utilisation, up from 10 percent for FIFO.</a:t>
            </a:r>
          </a:p>
          <a:p/>
          <a:p>
            <a:r>
              <a:t>The reason the reduction is so large in this model is that it combines two effects: consolidation, which cuts the energy itself from 5.03 down to 0.93 kilowatt-hours by packing work onto fewer hosts, and temporal shifting, which then moves that reduced load into cleaner slots. Most of the 83 percent is the consolidation.</a:t>
            </a:r>
          </a:p>
          <a:p/>
          <a:p>
            <a:r>
              <a:t>BE CAREFUL AND HONEST HERE - this is where a viva can go wrong. Do not let 83 percent stand as if it were all carbon-aware scheduling. Say explicitly: the energy-aware consolidation baseline alone gets 80.5 percent. The carbon-aware contribution on top is the remaining few points. That framing is much more defensible than letting them discover it themselves in the next table, which they will.</a:t>
            </a:r>
          </a:p>
          <a:p/>
          <a:p>
            <a:r>
              <a:t>The isolated temporal-shifting effect is on the following slide, and that's the cleaner measure of what MY contribution does.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[15:45-17:15  MAIN TABLE - THE most important slide]</a:t>
            </a:r>
          </a:p>
          <a:p/>
          <a:p>
            <a:r>
              <a:t>This is the central result. Give them time to read it before you talk.</a:t>
            </a:r>
          </a:p>
          <a:p/>
          <a:p>
            <a:r>
              <a:t>Read down the carbon column. CA-WOA is top at 83.25. Carbon-greedy 82.56, HHO 82.27, WOA 81.5, GWO 80.91, energy-aware 80.5. Then a clear drop: PSO 76.65, DE 76.55, GA 71.03.</a:t>
            </a:r>
          </a:p>
          <a:p/>
          <a:p>
            <a:r>
              <a:t>Now read the SLA column alongside it, because that's the real story. The top six all achieve zero violations. The three at the bottom - PSO, DE, GA - not only reduce less carbon, they also miss deadlines: 18, 21 and 48 percent respectively. GA is the worst on both axes simultaneously.</a:t>
            </a:r>
          </a:p>
          <a:p/>
          <a:p>
            <a:r>
              <a:t>So CA-WOA is not winning on a trade-off. It is not buying carbon with deadlines. It is simultaneously best on carbon AND joint-best on SLA. That's the claim, and it's a strong one because it doesn't require the examiner to accept any particular weighting between the two objectives.</a:t>
            </a:r>
          </a:p>
          <a:p/>
          <a:p>
            <a:r>
              <a:t>Two further honest observations. First, the margin over carbon-greedy is under a point - 0.69 percentage points. The metaheuristic machinery buys you a small improvement over a simple heuristic here, not a dramatic one, and I'd rather say that than have it pointed out. Second, look at makespan: CA-WOA takes 5.3 hours against FIFO's 2. Deferring work stretches the schedule. That is the real cost of this approach and it's the honest trade-off - not SLA, which is met, but wall-clock span.</a:t>
            </a:r>
          </a:p>
          <a:p/>
          <a:p>
            <a:r>
              <a:t>IF ASKED why GA does so badly: GA's crossover and mutation on this continuous encoding disrupts good schedules - a child of two good parents is often infeasible. Untuned defaults hurt GA more than the others.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[17:15-18:45  TEMPORAL-ONLY - the intellectually strongest slide]</a:t>
            </a:r>
          </a:p>
          <a:p/>
          <a:p>
            <a:r>
              <a:t>This is the experiment I'd point to if you asked which single result best supports my thesis.</a:t>
            </a:r>
          </a:p>
          <a:p/>
          <a:p>
            <a:r>
              <a:t>Here I switch off consolidation entirely. Energy is fixed at 5.033 kilowatt-hours for every method - identical, look at the column. The ONLY thing any algorithm can change is WHEN work runs. So every difference in carbon is purely the temporal effect. This isolates my contribution from the consolidation effect that dominated the previous table.</a:t>
            </a:r>
          </a:p>
          <a:p/>
          <a:p>
            <a:r>
              <a:t>Two things jump out.</a:t>
            </a:r>
          </a:p>
          <a:p/>
          <a:p>
            <a:r>
              <a:t>First, compare CA-WOA at 11.3 percent against standard WOA at 1.2 percent. Same algorithm, same budget, same everything - the only difference is the carbon-aware seeding. That is nearly a tenfold difference, and it is the cleanest possible evidence that the seeding, which is my actual contribution, is doing the work. If I have one number that defends the novelty claim, it is this pair.</a:t>
            </a:r>
          </a:p>
          <a:p/>
          <a:p>
            <a:r>
              <a:t>Second, look at what happens with GA, DE and PSO. GA achieves 20.1 percent - higher than mine. But look right: 56.67 percent SLA violations. It has thrown away more than half the deadlines to get there. DE, 19.4 percent carbon at 21.67 percent SLA. PSO, 19.0 at 20 percent.</a:t>
            </a:r>
          </a:p>
          <a:p/>
          <a:p>
            <a:r>
              <a:t>So the honest framing, and you must say this yourself rather than let them extract it: GA reduces MORE carbon than CA-WOA in absolute terms. If you don't care about deadlines, GA wins. My claim is specifically that among methods that honour every deadline - CA-WOA, HHO and standard WOA - CA-WOA is best by a clear margin: 11.3 against 11.1 and 1.2.</a:t>
            </a:r>
          </a:p>
          <a:p/>
          <a:p>
            <a:r>
              <a:t>State the constraint honestly, then win within it. That's much stronger than pretending the 20 percent isn't there.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[18:45-19:30  CHART]</a:t>
            </a:r>
          </a:p>
          <a:p/>
          <a:p>
            <a:r>
              <a:t>The same temporal-only data as a picture, because the shape makes the argument faster than the table does.</a:t>
            </a:r>
          </a:p>
          <a:p/>
          <a:p>
            <a:r>
              <a:t>Left panel, carbon reduction, my method in green. Right panel, SLA violations.</a:t>
            </a:r>
          </a:p>
          <a:p/>
          <a:p>
            <a:r>
              <a:t>Trace the pattern with your finger as you talk: the three bars that are tallest on the left - GA, DE, PSO - are exactly the three that are tallest on the right. Higher carbon reduction is being bought with deadline misses, almost one for one.</a:t>
            </a:r>
          </a:p>
          <a:p/>
          <a:p>
            <a:r>
              <a:t>CA-WOA sits at the top of the left panel among the methods with nothing at all in the right panel. That's the sweet spot, and visually it's obvious in a way the table isn't.</a:t>
            </a:r>
          </a:p>
          <a:p/>
          <a:p>
            <a:r>
              <a:t>DELIVERY: this is a good slide to slow down on and physically point at. Don't just read it out - let the shape do the 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[19:30-20:30  ROBUSTNESS]</a:t>
            </a:r>
          </a:p>
          <a:p/>
          <a:p>
            <a:r>
              <a:t>Anticipating the obvious objection: these algorithms are stochastic, so one run with one seed tells you very little. So I repeated everything across five seeds and report mean and standard deviation.</a:t>
            </a:r>
          </a:p>
          <a:p/>
          <a:p>
            <a:r>
              <a:t>The striking row is CA-WOA: 11.17 percent with a standard deviation of ZERO, and zero SLA violations with zero deviation. Perfectly repeatable.</a:t>
            </a:r>
          </a:p>
          <a:p/>
          <a:p>
            <a:r>
              <a:t>Now I must be careful here, because there's a subtlety and an examiner may spot it. That zero variance is not because my search is magically stable. It's because the greedy seed is deterministic and, in this configuration, it dominates - the population converges back to essentially the seeded solution regardless of the random component. Note that CA-WOA and the carbon-greedy baseline give identical figures here, 11.17 and zero. That's the tell.</a:t>
            </a:r>
          </a:p>
          <a:p/>
          <a:p>
            <a:r>
              <a:t>Is that good or bad? Both, honestly. It's genuinely valuable operationally - an operator gets a predictable, reproducible schedule, and predictability has real worth in production. But scientifically it means that in THIS setting the search is contributing little beyond the seed, and the improvement over greedy seen in the capacity model isn't reproduced here.</a:t>
            </a:r>
          </a:p>
          <a:p/>
          <a:p>
            <a:r>
              <a:t>SAY THIS YOURSELF. Do not wait to be caught. Volunteering a limitation you clearly understand is one of the strongest things you can do in a viva. Then contrast: DE gets 21.31 percent but with 29 percent SLA violations and real variance, so it's both worse on deadlines and less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[20:30-21:15  SCALABILITY]</a:t>
            </a:r>
          </a:p>
          <a:p/>
          <a:p>
            <a:r>
              <a:t>Sixty tasks is a small workload, so the fair question is whether any of this survives at realistic scale. I repeated the scheduling experiments at 50, 100, 200 and 300 tasks, five seeds at each.</a:t>
            </a:r>
          </a:p>
          <a:p/>
          <a:p>
            <a:r>
              <a:t>The finding holds. In the host-capacity model CA-WOA gives the highest carbon reduction with zero SLA violations at every single scale tested.</a:t>
            </a:r>
          </a:p>
          <a:p/>
          <a:p>
            <a:r>
              <a:t>And importantly, the failure mode of the competitors gets WORSE as scale increases. The methods that matched or beat CA-WOA on carbon - GA, PSO, DE - do so by missing more deadlines, and the number they miss grows with the workload. Intuitively that makes sense: more tasks means more contention for the same limited clean slots, so an optimiser that isn't respecting deadlines degrades faster.</a:t>
            </a:r>
          </a:p>
          <a:p/>
          <a:p>
            <a:r>
              <a:t>BE HONEST ABOUT THE CEILING: 300 tasks is still small compared to a real datacentre handling tens of thousands. I tested a trend, not production scale. If asked directly, concede it immediately and note that the encoding is O(N) in the number of tasks so the search space grows exponentially - runtime at 10,000 tasks is genuinely unknown and I would not claim otherwise.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[21:15-22:15  FORECASTING]</a:t>
            </a:r>
          </a:p>
          <a:p/>
          <a:p>
            <a:r>
              <a:t>A necessary honesty about the scheduling results: they use the ACTUAL carbon curve, which in deployment you would not have. Scheduling tomorrow's jobs means forecasting tomorrow's carbon. So I built and benchmarked a forecasting arm.</a:t>
            </a:r>
          </a:p>
          <a:p/>
          <a:p>
            <a:r>
              <a:t>I followed the literature. CarbonCast, from BuildSys 2022, established CNN-LSTM hybrids as the leading approach for grid carbon intensity, and more recent work - EnsembleCI, 2025 - shows ensembles are state of the art. So I implemented a multivariate CNN-LSTM and an ensemble, and benchmarked them against LSTM, GRU and gradient boosting on the same real UK data with a held-out test set.</a:t>
            </a:r>
          </a:p>
          <a:p/>
          <a:p>
            <a:r>
              <a:t>Results by mean absolute error, in grams of CO2 per kilowatt-hour, lower is better. The ensemble comes top at 3.385, gradient boosting 3.509, GRU 3.673, CNN-LSTM 3.735, plain LSTM 3.865. Those five are one experimental run. Separately, a naive persistence baseline - just predict the next value equals the current one - scores 4.838, and every learned model beats it.</a:t>
            </a:r>
          </a:p>
          <a:p/>
          <a:p>
            <a:r>
              <a:t>Now the part I want to be careful and honest about, because it is a genuine weakness.</a:t>
            </a:r>
          </a:p>
          <a:p/>
          <a:p>
            <a:r>
              <a:t>The gap between first and second place is 0.124 MAE. But when I compare the SAME model across my different experimental runs, LSTM varies by 0.245 - twice that gap. GRU varies by 0.161, also larger. In other words, run-to-run variance exceeds the difference between the models I'm ranking.</a:t>
            </a:r>
          </a:p>
          <a:p/>
          <a:p>
            <a:r>
              <a:t>So the claim I can actually defend is: learned models beat naive persistence, so there is real learnable structure in the carbon signal, and the models cluster tightly between 3.4 and 3.9. What I should NOT claim is that the ensemble is significantly the best - I have not run enough repeats to establish that, and I'd be overreaching if I said otherwise.</a:t>
            </a:r>
          </a:p>
          <a:p/>
          <a:p>
            <a:r>
              <a:t>Gradient boosting essentially matching the deep models, at a fraction of the compute, is the practically interesting finding here.</a:t>
            </a:r>
          </a:p>
          <a:p/>
          <a:p>
            <a:r>
              <a:t>IF ASKED how to fix this: repeat each model over multiple seeds and report mean and standard deviation, exactly as I did for the scheduling arm on the robustness slide. That inconsistency between my two arms is a fair criticism and I'd accept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[22:15-23:00  NEGATIVE RESULT]</a:t>
            </a:r>
          </a:p>
          <a:p/>
          <a:p>
            <a:r>
              <a:t>I want to show you something that didn't work, because I think reporting it is part of doing this properly.</a:t>
            </a:r>
          </a:p>
          <a:p/>
          <a:p>
            <a:r>
              <a:t>Given how dominant attention architectures are elsewhere, I tried a Transformer on the same forecasting task. It scored a mean absolute error of 9.27 - roughly two and a half times worse than the simple models, and far worse than naive persistence.</a:t>
            </a:r>
          </a:p>
          <a:p/>
          <a:p>
            <a:r>
              <a:t>Why? Almost certainly data volume. Transformers are famously data-hungry and I have a limited window of half-hourly readings. With a few thousand points, the inductive biases baked into a recurrent or tree-based model are worth more than attention's flexibility. This is a well-documented pattern in the time-series literature - there's a good line of work arguing simple baselines beat Transformers on many forecasting benchmarks.</a:t>
            </a:r>
          </a:p>
          <a:p/>
          <a:p>
            <a:r>
              <a:t>I'm reporting it rather than quietly dropping it because a negative result on a fashionable architecture is genuinely informative for anyone else working on carbon forecasting at this data scale. And frankly, selectively reporting only what worked would be bad science.</a:t>
            </a:r>
          </a:p>
          <a:p/>
          <a:p>
            <a:r>
              <a:t>IF ASKED whether you tuned it: be straight - limited tuning, and a properly tuned Transformer with more data might well do better. The claim is 'it did worse here, on this data, with comparable effort', not 'Transformers are bad'.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[23:00-24:15  LIMITATIONS - do this well and it lifts the whole viva]</a:t>
            </a:r>
          </a:p>
          <a:p/>
          <a:p>
            <a:r>
              <a:t>I want to state the limitations myself rather than have them extracted from me. Examiners reward a candidate who clearly knows where their own work is weak.</a:t>
            </a:r>
          </a:p>
          <a:p/>
          <a:p>
            <a:r>
              <a:t>One. Simulation, not deployment. No real servers were scheduled. The energy model is linear and idealised; real machines have non-linear power curves, thermal effects, and migration overheads I don't model.</a:t>
            </a:r>
          </a:p>
          <a:p/>
          <a:p>
            <a:r>
              <a:t>Two. The scheduling experiments assume perfect carbon foreknowledge. My forecasting arm shows a mean absolute error around 3.4, but I have not yet fed those forecasts back into the scheduler to measure how much of the carbon saving survives realistic forecast error. That integration is the single most important missing experiment in this thesis, and if you ask me what I'd do with another month, it's this.</a:t>
            </a:r>
          </a:p>
          <a:p/>
          <a:p>
            <a:r>
              <a:t>Three. Single region, single grid, three-day window. UK-only. Different grids have different curve shapes, and a flatter grid would offer less headroom.</a:t>
            </a:r>
          </a:p>
          <a:p/>
          <a:p>
            <a:r>
              <a:t>Four. The weighted-sum objective. As I said earlier, it only reaches the convex hull of the Pareto front, and the specific weights are a judgement call.</a:t>
            </a:r>
          </a:p>
          <a:p/>
          <a:p>
            <a:r>
              <a:t>Five. Untuned algorithm defaults - equal treatment, not optimal treatment.</a:t>
            </a:r>
          </a:p>
          <a:p/>
          <a:p>
            <a:r>
              <a:t>Six. On the robustness slide, CA-WOA coincides exactly with carbon-greedy, meaning in that configuration the seed rather than the search is doing the work.</a:t>
            </a:r>
          </a:p>
          <a:p/>
          <a:p>
            <a:r>
              <a:t>DELIVERY: say these calmly and without apology. They are ordinary limitations of an MSc simulation study, not confessions. Confidence here reads as maturity.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[24:15-25:00  CONTRIBUTION]</a:t>
            </a:r>
          </a:p>
          <a:p/>
          <a:p>
            <a:r>
              <a:t>Let me be precise about the claim, because precision here is what makes it defensible.</a:t>
            </a:r>
          </a:p>
          <a:p/>
          <a:p>
            <a:r>
              <a:t>Three contributions.</a:t>
            </a:r>
          </a:p>
          <a:p/>
          <a:p>
            <a:r>
              <a:t>First, the application. WOA applied to carbon-aware temporal scheduling, which my review found no prior instance of, with a domain-specific carbon-aware seeding mechanism. The evidence that the seeding matters is the 11.3 against 1.2 comparison - same algorithm, only the initialisation differs.</a:t>
            </a:r>
          </a:p>
          <a:p/>
          <a:p>
            <a:r>
              <a:t>Second, the benchmark. Six metaheuristics plus three baselines on one common, real workload with one common objective and one common budget. That's reusable by anyone else in this space regardless of what they think of CA-WOA, and I'd argue it's the more durable contribution.</a:t>
            </a:r>
          </a:p>
          <a:p/>
          <a:p>
            <a:r>
              <a:t>Third, a reproducible artefact. Real data throughout, fixed seeds, runs end to end in Colab, verified citations. Someone can check every number I've shown you.</a:t>
            </a:r>
          </a:p>
          <a:p/>
          <a:p>
            <a:r>
              <a:t>And what I do NOT claim: I have not invented a new metaheuristic. I have not deployed this in production. I have not shown it survives forecast error. Saying this explicitly is not weakness - it's what stops an examiner from having to corner you into it.</a:t>
            </a:r>
          </a:p>
          <a:p/>
          <a:p>
            <a:r>
              <a:t>DELIVERY: this is the slide where you sound like a researcher rather than a student. Steady pace, no hedging language.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[25:00-25:45  FUTURE WORK]</a:t>
            </a:r>
          </a:p>
          <a:p/>
          <a:p>
            <a:r>
              <a:t>Ordered by what I'd actually do first, not by ambition.</a:t>
            </a:r>
          </a:p>
          <a:p/>
          <a:p>
            <a:r>
              <a:t>One, and clearly first: close the loop between the two arms. Feed the forecasts into the scheduler and measure how much of the carbon saving survives realistic forecast error. Everything else is secondary to this, because it's what turns the result from 'works with an oracle' into 'works'.</a:t>
            </a:r>
          </a:p>
          <a:p/>
          <a:p>
            <a:r>
              <a:t>Two, proper multi-objective treatment - NSGA-II or MOEA/D - producing a Pareto front so an operator can choose their own carbon-versus-deadline trade-off instead of accepting my weights.</a:t>
            </a:r>
          </a:p>
          <a:p/>
          <a:p>
            <a:r>
              <a:t>Three, spatial shifting alongside temporal. Multiple regions with different grid mixes, which connects to the Khodayarseresht work. Temporal plus spatial together should give considerably more headroom than either alone.</a:t>
            </a:r>
          </a:p>
          <a:p/>
          <a:p>
            <a:r>
              <a:t>Four, scale properly - tens of thousands of tasks, which will likely require rethinking the encoding.</a:t>
            </a:r>
          </a:p>
          <a:p/>
          <a:p>
            <a:r>
              <a:t>Five, on-site renewables and battery storage, which was in my original plan.</a:t>
            </a:r>
          </a:p>
          <a:p/>
          <a:p>
            <a:r>
              <a:t>IF ASKED which is most promising: say one, without hesitation - it's the one that determines whether any of this is real. Then three, because spatial-plus-temporal is where the largest untapped headroom 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[25:45-26:30  CONCLUSION]</a:t>
            </a:r>
          </a:p>
          <a:p/>
          <a:p>
            <a:r>
              <a:t>To close.</a:t>
            </a:r>
          </a:p>
          <a:p/>
          <a:p>
            <a:r>
              <a:t>Carbon intensity varies over time, a great deal of cloud work is deferrable, and putting those two facts together is a real and largely untapped lever.</a:t>
            </a:r>
          </a:p>
          <a:p/>
          <a:p>
            <a:r>
              <a:t>I applied the Whale Optimization Algorithm to that problem for the first time, enhanced it with carbon-aware seeding, and evaluated it against five other metaheuristics on a common benchmark built from real Google and real UK National Grid data.</a:t>
            </a:r>
          </a:p>
          <a:p/>
          <a:p>
            <a:r>
              <a:t>CA-WOA achieved the highest carbon reduction among all methods that met every deadline - 83.25 percent in the capacity model, 11.3 percent from pure temporal shifting - with zero SLA violations, and it held at every scale I tested. The seeding, not the base algorithm, is what produces that: standard WOA on identical terms achieves 1.2 percent.</a:t>
            </a:r>
          </a:p>
          <a:p/>
          <a:p>
            <a:r>
              <a:t>The work is a simulation with an oracle carbon signal, and closing that gap is the immediate next step.</a:t>
            </a:r>
          </a:p>
          <a:p/>
          <a:p>
            <a:r>
              <a:t>Thank you. I'm happy to take questions.</a:t>
            </a:r>
          </a:p>
          <a:p/>
          <a:p>
            <a:r>
              <a:t>DELIVERY: land the last line cleanly and STOP. Don't trail off into extra qualifications. Then wait - let them ask.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a:t>
            </a:r>
          </a:p>
          <a:p/>
          <a:p>
            <a:r>
              <a:t>Backup slides follow this one - they are hidden from the main flow but you can jump to them if a question calls for it.</a:t>
            </a:r>
          </a:p>
          <a:p/>
          <a:p>
            <a:r>
              <a:t>General Q&amp;A advice:</a:t>
            </a:r>
          </a:p>
          <a:p>
            <a:r>
              <a:t>- If you don't know, say 'I don't know, but here's how I'd find out.' That answer never loses marks; bluffing does.</a:t>
            </a:r>
          </a:p>
          <a:p>
            <a:r>
              <a:t>- If a question is really a criticism you already have on the limitations slide, say so - 'yes, that's the limitation I flagged' - and expand.</a:t>
            </a:r>
          </a:p>
          <a:p>
            <a:r>
              <a:t>- Take two seconds before answering. Silence reads as considered, not blank.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part of the 25 minutes. Jump here only if a question calls for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1]</a:t>
            </a:r>
          </a:p>
          <a:p/>
          <a:p>
            <a:r>
              <a:t>Rehearse these until the answers are automatic. These are the six most likely challenges, and each answer is on the slide in compressed form.</a:t>
            </a:r>
          </a:p>
          <a:p/>
          <a:p>
            <a:r>
              <a:t>The meta-rule for all of them: concede what is true immediately, then state precisely what your claim actually is. Every one of these questions has a good honest answer - none of them require you to defend something indefensible.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2]</a:t>
            </a:r>
          </a:p>
          <a:p/>
          <a:p>
            <a:r>
              <a:t>The second set - these go more to validity and engineering realism.</a:t>
            </a:r>
          </a:p>
          <a:p/>
          <a:p>
            <a:r>
              <a:t>The forecast-error question is the one most likely to be pressed hardest, because it's the genuine gap. Don't try to argue your way out of it. Concede it fully, show you understand exactly why it matters, and point to it as your first piece of future work. An examiner who sees you understand your own gap will usually move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3] Every configuration value in one place, in case you're asked for a specific figure.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D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1560" y="1874519"/>
            <a:ext cx="2011680" cy="63500"/>
          </a:xfrm>
          <a:prstGeom prst="rect">
            <a:avLst/>
          </a:prstGeom>
          <a:solidFill>
            <a:srgbClr val="7BC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03120"/>
            <a:ext cx="10088575" cy="1737360"/>
          </a:xfrm>
          <a:prstGeom prst="rect">
            <a:avLst/>
          </a:prstGeom>
          <a:noFill/>
        </p:spPr>
        <p:txBody>
          <a:bodyPr wrap="square">
            <a:spAutoFit/>
          </a:bodyPr>
          <a:lstStyle/>
          <a:p>
            <a:pPr algn="l">
              <a:spcAft>
                <a:spcPts val="0"/>
              </a:spcAft>
            </a:pPr>
            <a:r>
              <a:rPr sz="4200" b="1" i="0">
                <a:solidFill>
                  <a:srgbClr val="FFFFFF"/>
                </a:solidFill>
                <a:latin typeface="Calibri"/>
              </a:rPr>
              <a:t>Carbon-Aware &amp; Energy-Efficient
Cloud Task Scheduling</a:t>
            </a:r>
          </a:p>
        </p:txBody>
      </p:sp>
      <p:sp>
        <p:nvSpPr>
          <p:cNvPr id="5" name="TextBox 4"/>
          <p:cNvSpPr txBox="1"/>
          <p:nvPr/>
        </p:nvSpPr>
        <p:spPr>
          <a:xfrm>
            <a:off x="1078992" y="3794760"/>
            <a:ext cx="10088575" cy="731520"/>
          </a:xfrm>
          <a:prstGeom prst="rect">
            <a:avLst/>
          </a:prstGeom>
          <a:noFill/>
        </p:spPr>
        <p:txBody>
          <a:bodyPr wrap="square">
            <a:spAutoFit/>
          </a:bodyPr>
          <a:lstStyle/>
          <a:p>
            <a:pPr algn="l">
              <a:spcAft>
                <a:spcPts val="0"/>
              </a:spcAft>
            </a:pPr>
            <a:r>
              <a:rPr sz="1800" b="0" i="0">
                <a:solidFill>
                  <a:srgbClr val="B8D8CC"/>
                </a:solidFill>
                <a:latin typeface="Calibri"/>
              </a:rPr>
              <a:t>CA-WOA: a carbon-aware Whale Optimization Algorithm,
benchmarked on real Google Cluster and UK National Grid data</a:t>
            </a:r>
          </a:p>
        </p:txBody>
      </p:sp>
      <p:sp>
        <p:nvSpPr>
          <p:cNvPr id="6" name="TextBox 5"/>
          <p:cNvSpPr txBox="1"/>
          <p:nvPr/>
        </p:nvSpPr>
        <p:spPr>
          <a:xfrm>
            <a:off x="1078992" y="5029200"/>
            <a:ext cx="10088575" cy="1097280"/>
          </a:xfrm>
          <a:prstGeom prst="rect">
            <a:avLst/>
          </a:prstGeom>
          <a:noFill/>
        </p:spPr>
        <p:txBody>
          <a:bodyPr wrap="square">
            <a:spAutoFit/>
          </a:bodyPr>
          <a:lstStyle/>
          <a:p>
            <a:pPr algn="l">
              <a:spcAft>
                <a:spcPts val="0"/>
              </a:spcAft>
            </a:pPr>
            <a:r>
              <a:rPr sz="2000" b="1" i="0">
                <a:solidFill>
                  <a:srgbClr val="FFFFFF"/>
                </a:solidFill>
                <a:latin typeface="Calibri"/>
              </a:rPr>
              <a:t>Navaneetha Thalakokkula</a:t>
            </a:r>
          </a:p>
        </p:txBody>
      </p:sp>
      <p:sp>
        <p:nvSpPr>
          <p:cNvPr id="7" name="TextBox 6"/>
          <p:cNvSpPr txBox="1"/>
          <p:nvPr/>
        </p:nvSpPr>
        <p:spPr>
          <a:xfrm>
            <a:off x="1078992" y="5440680"/>
            <a:ext cx="10088575" cy="914400"/>
          </a:xfrm>
          <a:prstGeom prst="rect">
            <a:avLst/>
          </a:prstGeom>
          <a:noFill/>
        </p:spPr>
        <p:txBody>
          <a:bodyPr wrap="square">
            <a:spAutoFit/>
          </a:bodyPr>
          <a:lstStyle/>
          <a:p>
            <a:pPr algn="l">
              <a:spcAft>
                <a:spcPts val="0"/>
              </a:spcAft>
            </a:pPr>
            <a:r>
              <a:rPr sz="1400" b="0" i="0">
                <a:solidFill>
                  <a:srgbClr val="B8D8CC"/>
                </a:solidFill>
                <a:latin typeface="Calibri"/>
              </a:rPr>
              <a:t>MSc Cloud Computing  ·  National College of Ireland
Dissertation viva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What I'll cover</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Roughly 25 minutes</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a:t>
            </a:r>
          </a:p>
        </p:txBody>
      </p:sp>
      <p:sp>
        <p:nvSpPr>
          <p:cNvPr id="6" name="TextBox 5"/>
          <p:cNvSpPr txBox="1"/>
          <p:nvPr/>
        </p:nvSpPr>
        <p:spPr>
          <a:xfrm>
            <a:off x="685800" y="1828800"/>
            <a:ext cx="10820095" cy="4389120"/>
          </a:xfrm>
          <a:prstGeom prst="rect">
            <a:avLst/>
          </a:prstGeom>
          <a:noFill/>
        </p:spPr>
        <p:txBody>
          <a:bodyPr wrap="square">
            <a:spAutoFit/>
          </a:bodyPr>
          <a:lstStyle/>
          <a:p>
            <a:pPr>
              <a:spcBef>
                <a:spcPts val="600"/>
              </a:spcBef>
              <a:spcAft>
                <a:spcPts val="1700"/>
              </a:spcAft>
            </a:pPr>
            <a:r>
              <a:rPr sz="1900" b="1">
                <a:solidFill>
                  <a:srgbClr val="1A1A1A"/>
                </a:solidFill>
                <a:latin typeface="Calibri"/>
              </a:rPr>
              <a:t>1.  Motivation — why carbon, and why scheduling can move it</a:t>
            </a:r>
          </a:p>
          <a:p>
            <a:pPr>
              <a:spcBef>
                <a:spcPts val="600"/>
              </a:spcBef>
              <a:spcAft>
                <a:spcPts val="1700"/>
              </a:spcAft>
            </a:pPr>
            <a:r>
              <a:rPr sz="1900" b="1">
                <a:solidFill>
                  <a:srgbClr val="1A1A1A"/>
                </a:solidFill>
                <a:latin typeface="Calibri"/>
              </a:rPr>
              <a:t>2.  Literature &amp; the research gap — 12 reviewed papers</a:t>
            </a:r>
          </a:p>
          <a:p>
            <a:pPr>
              <a:spcBef>
                <a:spcPts val="600"/>
              </a:spcBef>
              <a:spcAft>
                <a:spcPts val="1700"/>
              </a:spcAft>
            </a:pPr>
            <a:r>
              <a:rPr sz="1900" b="1">
                <a:solidFill>
                  <a:srgbClr val="1A1A1A"/>
                </a:solidFill>
                <a:latin typeface="Calibri"/>
              </a:rPr>
              <a:t>3.  Method — system model, problem formulation, and CA-WOA</a:t>
            </a:r>
          </a:p>
          <a:p>
            <a:pPr>
              <a:spcBef>
                <a:spcPts val="600"/>
              </a:spcBef>
              <a:spcAft>
                <a:spcPts val="1700"/>
              </a:spcAft>
            </a:pPr>
            <a:r>
              <a:rPr sz="1900" b="1">
                <a:solidFill>
                  <a:srgbClr val="1A1A1A"/>
                </a:solidFill>
                <a:latin typeface="Calibri"/>
              </a:rPr>
              <a:t>4.  Experimental design — the level playing field</a:t>
            </a:r>
          </a:p>
          <a:p>
            <a:pPr>
              <a:spcBef>
                <a:spcPts val="600"/>
              </a:spcBef>
              <a:spcAft>
                <a:spcPts val="1700"/>
              </a:spcAft>
            </a:pPr>
            <a:r>
              <a:rPr sz="1900" b="1">
                <a:solidFill>
                  <a:srgbClr val="1A1A1A"/>
                </a:solidFill>
                <a:latin typeface="Calibri"/>
              </a:rPr>
              <a:t>5.  Results — scheduling, robustness, scalability, forecasting</a:t>
            </a:r>
          </a:p>
          <a:p>
            <a:pPr>
              <a:spcBef>
                <a:spcPts val="600"/>
              </a:spcBef>
              <a:spcAft>
                <a:spcPts val="1700"/>
              </a:spcAft>
            </a:pPr>
            <a:r>
              <a:rPr sz="1900" b="1">
                <a:solidFill>
                  <a:srgbClr val="1A1A1A"/>
                </a:solidFill>
                <a:latin typeface="Calibri"/>
              </a:rPr>
              <a:t>6.  Limitations, contribution, and future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Why this problem matters</a:t>
            </a:r>
          </a:p>
        </p:txBody>
      </p:sp>
      <p:sp>
        <p:nvSpPr>
          <p:cNvPr id="3" name="Rectangle 2"/>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2</a:t>
            </a:r>
          </a:p>
        </p:txBody>
      </p:sp>
      <p:sp>
        <p:nvSpPr>
          <p:cNvPr id="5" name="TextBox 4"/>
          <p:cNvSpPr txBox="1"/>
          <p:nvPr/>
        </p:nvSpPr>
        <p:spPr>
          <a:xfrm>
            <a:off x="685800" y="1600200"/>
            <a:ext cx="10820095" cy="4617720"/>
          </a:xfrm>
          <a:prstGeom prst="rect">
            <a:avLst/>
          </a:prstGeom>
          <a:noFill/>
        </p:spPr>
        <p:txBody>
          <a:bodyPr wrap="square">
            <a:spAutoFit/>
          </a:bodyPr>
          <a:lstStyle/>
          <a:p>
            <a:pPr>
              <a:spcBef>
                <a:spcPts val="600"/>
              </a:spcBef>
              <a:spcAft>
                <a:spcPts val="1100"/>
              </a:spcAft>
            </a:pPr>
            <a:r>
              <a:rPr sz="1700" b="1">
                <a:solidFill>
                  <a:srgbClr val="1A1A1A"/>
                </a:solidFill>
                <a:latin typeface="Calibri"/>
              </a:rPr>
              <a:t>Data centres consume roughly 1–1.5% of global electricity — and demand is accelerating</a:t>
            </a:r>
          </a:p>
          <a:p>
            <a:pPr lvl="1">
              <a:spcBef>
                <a:spcPts val="0"/>
              </a:spcBef>
              <a:spcAft>
                <a:spcPts val="600"/>
              </a:spcAft>
            </a:pPr>
            <a:r>
              <a:rPr sz="1500" b="0">
                <a:solidFill>
                  <a:srgbClr val="5F6B6A"/>
                </a:solidFill>
                <a:latin typeface="Calibri"/>
              </a:rPr>
              <a:t>–  Efficiency gains alone have a floor: hardware can only get so good</a:t>
            </a:r>
          </a:p>
          <a:p>
            <a:pPr>
              <a:spcBef>
                <a:spcPts val="600"/>
              </a:spcBef>
              <a:spcAft>
                <a:spcPts val="1100"/>
              </a:spcAft>
            </a:pPr>
            <a:r>
              <a:rPr sz="1700" b="1">
                <a:solidFill>
                  <a:srgbClr val="1A1A1A"/>
                </a:solidFill>
                <a:latin typeface="Calibri"/>
              </a:rPr>
              <a:t>Grid carbon intensity is not constant — it swings with the generation mix</a:t>
            </a:r>
          </a:p>
          <a:p>
            <a:pPr lvl="1">
              <a:spcBef>
                <a:spcPts val="0"/>
              </a:spcBef>
              <a:spcAft>
                <a:spcPts val="600"/>
              </a:spcAft>
            </a:pPr>
            <a:r>
              <a:rPr sz="1500" b="0">
                <a:solidFill>
                  <a:srgbClr val="5F6B6A"/>
                </a:solidFill>
                <a:latin typeface="Calibri"/>
              </a:rPr>
              <a:t>–  Wind and solar rise and fall; gas and coal fill the gaps</a:t>
            </a:r>
          </a:p>
          <a:p>
            <a:pPr lvl="1">
              <a:spcBef>
                <a:spcPts val="0"/>
              </a:spcBef>
              <a:spcAft>
                <a:spcPts val="600"/>
              </a:spcAft>
            </a:pPr>
            <a:r>
              <a:rPr sz="1500" b="0">
                <a:solidFill>
                  <a:srgbClr val="5F6B6A"/>
                </a:solidFill>
                <a:latin typeface="Calibri"/>
              </a:rPr>
              <a:t>–  The SAME kWh can carry very different emissions depending on WHEN it is drawn</a:t>
            </a:r>
          </a:p>
          <a:p>
            <a:pPr>
              <a:spcBef>
                <a:spcPts val="600"/>
              </a:spcBef>
              <a:spcAft>
                <a:spcPts val="1100"/>
              </a:spcAft>
            </a:pPr>
            <a:r>
              <a:rPr sz="1700" b="1">
                <a:solidFill>
                  <a:srgbClr val="1A1A1A"/>
                </a:solidFill>
                <a:latin typeface="Calibri"/>
              </a:rPr>
              <a:t>Many cloud workloads are deferrable — they do not need to run right now</a:t>
            </a:r>
          </a:p>
          <a:p>
            <a:pPr lvl="1">
              <a:spcBef>
                <a:spcPts val="0"/>
              </a:spcBef>
              <a:spcAft>
                <a:spcPts val="600"/>
              </a:spcAft>
            </a:pPr>
            <a:r>
              <a:rPr sz="1500" b="0">
                <a:solidFill>
                  <a:srgbClr val="5F6B6A"/>
                </a:solidFill>
                <a:latin typeface="Calibri"/>
              </a:rPr>
              <a:t>–  Batch analytics, ML training, backups, CI, report generation</a:t>
            </a:r>
          </a:p>
          <a:p>
            <a:pPr lvl="1">
              <a:spcBef>
                <a:spcPts val="0"/>
              </a:spcBef>
              <a:spcAft>
                <a:spcPts val="600"/>
              </a:spcAft>
            </a:pPr>
            <a:r>
              <a:rPr sz="1500" b="0">
                <a:solidFill>
                  <a:srgbClr val="5F6B6A"/>
                </a:solidFill>
                <a:latin typeface="Calibri"/>
              </a:rPr>
              <a:t>–  A deadline, not an instant, is what actually matters to the user</a:t>
            </a:r>
          </a:p>
          <a:p>
            <a:pPr>
              <a:spcBef>
                <a:spcPts val="600"/>
              </a:spcBef>
              <a:spcAft>
                <a:spcPts val="1100"/>
              </a:spcAft>
            </a:pPr>
            <a:r>
              <a:rPr sz="1700" b="1">
                <a:solidFill>
                  <a:srgbClr val="2E8B57"/>
                </a:solidFill>
                <a:latin typeface="Calibri"/>
              </a:rPr>
              <a:t>→  If a job can wait, moving it to a cleaner hour cuts carbon at near-zero cost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The core idea — temporal shifting</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Same work, same energy, fewer emissions</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3</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1100"/>
              </a:spcAft>
            </a:pPr>
            <a:r>
              <a:rPr sz="1700" b="1">
                <a:solidFill>
                  <a:srgbClr val="2E8B57"/>
                </a:solidFill>
                <a:latin typeface="Calibri"/>
              </a:rPr>
              <a:t>In my 3-day UK window, carbon intensity ranged 51 → 203 gCO₂/kWh — a 4× swing</a:t>
            </a:r>
          </a:p>
          <a:p>
            <a:pPr lvl="1">
              <a:spcBef>
                <a:spcPts val="0"/>
              </a:spcBef>
              <a:spcAft>
                <a:spcPts val="600"/>
              </a:spcAft>
            </a:pPr>
            <a:r>
              <a:rPr sz="1500" b="0">
                <a:solidFill>
                  <a:srgbClr val="5F6B6A"/>
                </a:solidFill>
                <a:latin typeface="Calibri"/>
              </a:rPr>
              <a:t>–  The same kWh is therefore up to 4× dirtier depending only on when it is drawn</a:t>
            </a:r>
          </a:p>
          <a:p>
            <a:pPr>
              <a:spcBef>
                <a:spcPts val="600"/>
              </a:spcBef>
              <a:spcAft>
                <a:spcPts val="1100"/>
              </a:spcAft>
            </a:pPr>
            <a:r>
              <a:rPr sz="1700" b="1">
                <a:solidFill>
                  <a:srgbClr val="1A1A1A"/>
                </a:solidFill>
                <a:latin typeface="Calibri"/>
              </a:rPr>
              <a:t>Each task has: an earliest start, a duration, and a deadline</a:t>
            </a:r>
          </a:p>
          <a:p>
            <a:pPr lvl="1">
              <a:spcBef>
                <a:spcPts val="0"/>
              </a:spcBef>
              <a:spcAft>
                <a:spcPts val="600"/>
              </a:spcAft>
            </a:pPr>
            <a:r>
              <a:rPr sz="1500" b="0">
                <a:solidFill>
                  <a:srgbClr val="5F6B6A"/>
                </a:solidFill>
                <a:latin typeface="Calibri"/>
              </a:rPr>
              <a:t>–  The gap between them is slack — a window of legal start times</a:t>
            </a:r>
          </a:p>
          <a:p>
            <a:pPr>
              <a:spcBef>
                <a:spcPts val="600"/>
              </a:spcBef>
              <a:spcAft>
                <a:spcPts val="1100"/>
              </a:spcAft>
            </a:pPr>
            <a:r>
              <a:rPr sz="1700" b="1">
                <a:solidFill>
                  <a:srgbClr val="1A1A1A"/>
                </a:solidFill>
                <a:latin typeface="Calibri"/>
              </a:rPr>
              <a:t>Every legal start time overlaps a different part of the carbon curve</a:t>
            </a:r>
          </a:p>
          <a:p>
            <a:pPr lvl="1">
              <a:spcBef>
                <a:spcPts val="0"/>
              </a:spcBef>
              <a:spcAft>
                <a:spcPts val="600"/>
              </a:spcAft>
            </a:pPr>
            <a:r>
              <a:rPr sz="1500" b="0">
                <a:solidFill>
                  <a:srgbClr val="5F6B6A"/>
                </a:solidFill>
                <a:latin typeface="Calibri"/>
              </a:rPr>
              <a:t>–  Choosing a start time is therefore choosing an emissions cost</a:t>
            </a:r>
          </a:p>
          <a:p>
            <a:pPr>
              <a:spcBef>
                <a:spcPts val="600"/>
              </a:spcBef>
              <a:spcAft>
                <a:spcPts val="1100"/>
              </a:spcAft>
            </a:pPr>
            <a:r>
              <a:rPr sz="1700" b="1">
                <a:solidFill>
                  <a:srgbClr val="103D38"/>
                </a:solidFill>
                <a:latin typeface="Calibri"/>
              </a:rPr>
              <a:t>Scheduling becomes combinatorial search:</a:t>
            </a:r>
          </a:p>
          <a:p>
            <a:pPr lvl="1">
              <a:spcBef>
                <a:spcPts val="0"/>
              </a:spcBef>
              <a:spcAft>
                <a:spcPts val="600"/>
              </a:spcAft>
            </a:pPr>
            <a:r>
              <a:rPr sz="1500" b="0">
                <a:solidFill>
                  <a:srgbClr val="5F6B6A"/>
                </a:solidFill>
                <a:latin typeface="Calibri"/>
              </a:rPr>
              <a:t>–  60 tasks × up to 24 deferral slots each = an enormous discrete space</a:t>
            </a:r>
          </a:p>
          <a:p>
            <a:pPr lvl="1">
              <a:spcBef>
                <a:spcPts val="0"/>
              </a:spcBef>
              <a:spcAft>
                <a:spcPts val="600"/>
              </a:spcAft>
            </a:pPr>
            <a:r>
              <a:rPr sz="1500" b="0">
                <a:solidFill>
                  <a:srgbClr val="5F6B6A"/>
                </a:solidFill>
                <a:latin typeface="Calibri"/>
              </a:rPr>
              <a:t>–  Too large to enumerate → this is why metaheuristics are the right tool</a:t>
            </a:r>
          </a:p>
          <a:p>
            <a:pPr>
              <a:spcBef>
                <a:spcPts val="600"/>
              </a:spcBef>
              <a:spcAft>
                <a:spcPts val="1100"/>
              </a:spcAft>
            </a:pPr>
            <a:r>
              <a:rPr sz="1700" b="1">
                <a:solidFill>
                  <a:srgbClr val="2E8B57"/>
                </a:solidFill>
                <a:latin typeface="Calibri"/>
              </a:rPr>
              <a:t>Energy consumed is unchanged. Only the TIMING changes.</a:t>
            </a:r>
          </a:p>
          <a:p>
            <a:pPr lvl="1">
              <a:spcBef>
                <a:spcPts val="0"/>
              </a:spcBef>
              <a:spcAft>
                <a:spcPts val="600"/>
              </a:spcAft>
            </a:pPr>
            <a:r>
              <a:rPr sz="1500" b="0">
                <a:solidFill>
                  <a:srgbClr val="5F6B6A"/>
                </a:solidFill>
                <a:latin typeface="Calibri"/>
              </a:rPr>
              <a:t>–  The hard part is doing it without missing deadlines — ignore SLA and the problem is trivial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Literature — what has been done</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12 papers reviewed and independently verified (open-access PDFs + Crossref DOI metadata)</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4</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900"/>
              </a:spcAft>
            </a:pPr>
            <a:r>
              <a:rPr sz="1600" b="1">
                <a:solidFill>
                  <a:srgbClr val="1A1A1A"/>
                </a:solidFill>
                <a:latin typeface="Calibri"/>
              </a:rPr>
              <a:t>Energy- and cost-focused metaheuristics — the mature majority</a:t>
            </a:r>
          </a:p>
          <a:p>
            <a:pPr lvl="1">
              <a:spcBef>
                <a:spcPts val="0"/>
              </a:spcBef>
              <a:spcAft>
                <a:spcPts val="400"/>
              </a:spcAft>
            </a:pPr>
            <a:r>
              <a:rPr sz="1400" b="0">
                <a:solidFill>
                  <a:srgbClr val="5F6B6A"/>
                </a:solidFill>
                <a:latin typeface="Calibri"/>
              </a:rPr>
              <a:t>–  EEOA (Sensors 2023) · HHO VM placement (PLoS ONE 2023) · ABGWO (J. Cloud Comp. 2025)</a:t>
            </a:r>
          </a:p>
          <a:p>
            <a:pPr lvl="1">
              <a:spcBef>
                <a:spcPts val="0"/>
              </a:spcBef>
              <a:spcAft>
                <a:spcPts val="400"/>
              </a:spcAft>
            </a:pPr>
            <a:r>
              <a:rPr sz="1400" b="0">
                <a:solidFill>
                  <a:srgbClr val="5F6B6A"/>
                </a:solidFill>
                <a:latin typeface="Calibri"/>
              </a:rPr>
              <a:t>–  Green-PSO (2023) · Hybrid GA-GWO (JPDC 2024) · EWOA (J. Eng. Appl. Sci. 2024)</a:t>
            </a:r>
          </a:p>
          <a:p>
            <a:pPr>
              <a:spcBef>
                <a:spcPts val="600"/>
              </a:spcBef>
              <a:spcAft>
                <a:spcPts val="900"/>
              </a:spcAft>
            </a:pPr>
            <a:r>
              <a:rPr sz="1600" b="1">
                <a:solidFill>
                  <a:srgbClr val="1A1A1A"/>
                </a:solidFill>
                <a:latin typeface="Calibri"/>
              </a:rPr>
              <a:t>Explicitly carbon-aware work — a much smaller group (my anchors)</a:t>
            </a:r>
          </a:p>
          <a:p>
            <a:pPr lvl="1">
              <a:spcBef>
                <a:spcPts val="0"/>
              </a:spcBef>
              <a:spcAft>
                <a:spcPts val="400"/>
              </a:spcAft>
            </a:pPr>
            <a:r>
              <a:rPr sz="1400" b="0">
                <a:solidFill>
                  <a:srgbClr val="5F6B6A"/>
                </a:solidFill>
                <a:latin typeface="Calibri"/>
              </a:rPr>
              <a:t>–  HAPSO (2025) — ACO-initialised PSO for carbon-efficient VM consolidation</a:t>
            </a:r>
          </a:p>
          <a:p>
            <a:pPr lvl="1">
              <a:spcBef>
                <a:spcPts val="0"/>
              </a:spcBef>
              <a:spcAft>
                <a:spcPts val="400"/>
              </a:spcAft>
            </a:pPr>
            <a:r>
              <a:rPr sz="1400" b="0">
                <a:solidFill>
                  <a:srgbClr val="5F6B6A"/>
                </a:solidFill>
                <a:latin typeface="Calibri"/>
              </a:rPr>
              <a:t>–  Abbasi-khazaei &amp; Rezvani (Soft Computing 2022)</a:t>
            </a:r>
          </a:p>
          <a:p>
            <a:pPr lvl="1">
              <a:spcBef>
                <a:spcPts val="0"/>
              </a:spcBef>
              <a:spcAft>
                <a:spcPts val="400"/>
              </a:spcAft>
            </a:pPr>
            <a:r>
              <a:rPr sz="1400" b="0">
                <a:solidFill>
                  <a:srgbClr val="5F6B6A"/>
                </a:solidFill>
                <a:latin typeface="Calibri"/>
              </a:rPr>
              <a:t>–  ECMR (Sci. Tech. Energy Transition 2024) — renewable-aware edge-cloud ML scheduling</a:t>
            </a:r>
          </a:p>
          <a:p>
            <a:pPr lvl="1">
              <a:spcBef>
                <a:spcPts val="0"/>
              </a:spcBef>
              <a:spcAft>
                <a:spcPts val="400"/>
              </a:spcAft>
            </a:pPr>
            <a:r>
              <a:rPr sz="1400" b="0">
                <a:solidFill>
                  <a:srgbClr val="5F6B6A"/>
                </a:solidFill>
                <a:latin typeface="Calibri"/>
              </a:rPr>
              <a:t>–  Khodayarseresht et al. (Sustainable Computing 2023) — geographically distributed placement</a:t>
            </a:r>
          </a:p>
          <a:p>
            <a:pPr>
              <a:spcBef>
                <a:spcPts val="600"/>
              </a:spcBef>
              <a:spcAft>
                <a:spcPts val="900"/>
              </a:spcAft>
            </a:pPr>
            <a:r>
              <a:rPr sz="1600" b="1">
                <a:solidFill>
                  <a:srgbClr val="C87A1E"/>
                </a:solidFill>
                <a:latin typeface="Calibri"/>
              </a:rPr>
              <a:t>Two recurring weaknesses across the field:</a:t>
            </a:r>
          </a:p>
          <a:p>
            <a:pPr lvl="1">
              <a:spcBef>
                <a:spcPts val="0"/>
              </a:spcBef>
              <a:spcAft>
                <a:spcPts val="400"/>
              </a:spcAft>
            </a:pPr>
            <a:r>
              <a:rPr sz="1400" b="0">
                <a:solidFill>
                  <a:srgbClr val="5F6B6A"/>
                </a:solidFill>
                <a:latin typeface="Calibri"/>
              </a:rPr>
              <a:t>–  Each paper uses its own workload and its own assumptions → results are not comparable</a:t>
            </a:r>
          </a:p>
          <a:p>
            <a:pPr lvl="1">
              <a:spcBef>
                <a:spcPts val="0"/>
              </a:spcBef>
              <a:spcAft>
                <a:spcPts val="400"/>
              </a:spcAft>
            </a:pPr>
            <a:r>
              <a:rPr sz="1400" b="0">
                <a:solidFill>
                  <a:srgbClr val="5F6B6A"/>
                </a:solidFill>
                <a:latin typeface="Calibri"/>
              </a:rPr>
              <a:t>–  Many evaluate on synthetic/randomly generated workloads rather than real traces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The research gap and my question</a:t>
            </a:r>
          </a:p>
        </p:txBody>
      </p:sp>
      <p:sp>
        <p:nvSpPr>
          <p:cNvPr id="3" name="Rectangle 2"/>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5</a:t>
            </a:r>
          </a:p>
        </p:txBody>
      </p:sp>
      <p:sp>
        <p:nvSpPr>
          <p:cNvPr id="5" name="TextBox 4"/>
          <p:cNvSpPr txBox="1"/>
          <p:nvPr/>
        </p:nvSpPr>
        <p:spPr>
          <a:xfrm>
            <a:off x="685800" y="1600200"/>
            <a:ext cx="10820095" cy="4617720"/>
          </a:xfrm>
          <a:prstGeom prst="rect">
            <a:avLst/>
          </a:prstGeom>
          <a:noFill/>
        </p:spPr>
        <p:txBody>
          <a:bodyPr wrap="square">
            <a:spAutoFit/>
          </a:bodyPr>
          <a:lstStyle/>
          <a:p>
            <a:pPr>
              <a:spcBef>
                <a:spcPts val="600"/>
              </a:spcBef>
              <a:spcAft>
                <a:spcPts val="1000"/>
              </a:spcAft>
            </a:pPr>
            <a:r>
              <a:rPr sz="1650" b="1">
                <a:solidFill>
                  <a:srgbClr val="1A1A1A"/>
                </a:solidFill>
                <a:latin typeface="Calibri"/>
              </a:rPr>
              <a:t>Gap 1 — WOA has never been applied to carbon-aware temporal scheduling</a:t>
            </a:r>
          </a:p>
          <a:p>
            <a:pPr lvl="1">
              <a:spcBef>
                <a:spcPts val="0"/>
              </a:spcBef>
              <a:spcAft>
                <a:spcPts val="500"/>
              </a:spcAft>
            </a:pPr>
            <a:r>
              <a:rPr sz="1450" b="0">
                <a:solidFill>
                  <a:srgbClr val="5F6B6A"/>
                </a:solidFill>
                <a:latin typeface="Calibri"/>
              </a:rPr>
              <a:t>–  It is well studied for makespan, energy and cost (e.g. EWOA 2024) — but not carbon</a:t>
            </a:r>
          </a:p>
          <a:p>
            <a:pPr>
              <a:spcBef>
                <a:spcPts val="600"/>
              </a:spcBef>
              <a:spcAft>
                <a:spcPts val="1000"/>
              </a:spcAft>
            </a:pPr>
            <a:r>
              <a:rPr sz="1650" b="1">
                <a:solidFill>
                  <a:srgbClr val="1A1A1A"/>
                </a:solidFill>
                <a:latin typeface="Calibri"/>
              </a:rPr>
              <a:t>Gap 2 — no common benchmark exists across these algorithms</a:t>
            </a:r>
          </a:p>
          <a:p>
            <a:pPr lvl="1">
              <a:spcBef>
                <a:spcPts val="0"/>
              </a:spcBef>
              <a:spcAft>
                <a:spcPts val="500"/>
              </a:spcAft>
            </a:pPr>
            <a:r>
              <a:rPr sz="1450" b="0">
                <a:solidFill>
                  <a:srgbClr val="5F6B6A"/>
                </a:solidFill>
                <a:latin typeface="Calibri"/>
              </a:rPr>
              <a:t>–  Different workloads, different energy models, different objectives per paper</a:t>
            </a:r>
          </a:p>
          <a:p>
            <a:pPr lvl="1">
              <a:spcBef>
                <a:spcPts val="0"/>
              </a:spcBef>
              <a:spcAft>
                <a:spcPts val="500"/>
              </a:spcAft>
            </a:pPr>
            <a:r>
              <a:rPr sz="1450" b="0">
                <a:solidFill>
                  <a:srgbClr val="5F6B6A"/>
                </a:solidFill>
                <a:latin typeface="Calibri"/>
              </a:rPr>
              <a:t>–  You cannot tell from the literature whether GWO actually beats PSO here</a:t>
            </a:r>
          </a:p>
          <a:p>
            <a:pPr>
              <a:spcBef>
                <a:spcPts val="600"/>
              </a:spcBef>
              <a:spcAft>
                <a:spcPts val="1000"/>
              </a:spcAft>
            </a:pPr>
            <a:r>
              <a:rPr sz="1650" b="1">
                <a:solidFill>
                  <a:srgbClr val="103D38"/>
                </a:solidFill>
                <a:latin typeface="Calibri"/>
              </a:rPr>
              <a:t>Research question</a:t>
            </a:r>
          </a:p>
          <a:p>
            <a:pPr lvl="1">
              <a:spcBef>
                <a:spcPts val="0"/>
              </a:spcBef>
              <a:spcAft>
                <a:spcPts val="500"/>
              </a:spcAft>
            </a:pPr>
            <a:r>
              <a:rPr sz="1450" b="0">
                <a:solidFill>
                  <a:srgbClr val="5F6B6A"/>
                </a:solidFill>
                <a:latin typeface="Calibri"/>
              </a:rPr>
              <a:t>–  Can a carbon-aware enhancement of WOA reduce the carbon footprint of deferrable cloud workloads, on real trace and real grid data, WITHOUT increasing SLA violations —</a:t>
            </a:r>
          </a:p>
          <a:p>
            <a:pPr lvl="1">
              <a:spcBef>
                <a:spcPts val="0"/>
              </a:spcBef>
              <a:spcAft>
                <a:spcPts val="500"/>
              </a:spcAft>
            </a:pPr>
            <a:r>
              <a:rPr sz="1450" b="0">
                <a:solidFill>
                  <a:srgbClr val="5F6B6A"/>
                </a:solidFill>
                <a:latin typeface="Calibri"/>
              </a:rPr>
              <a:t>–  — and how does it compare against GWO, PSO, DE, HHO and GA evaluated on identical terms?</a:t>
            </a:r>
          </a:p>
          <a:p>
            <a:pPr>
              <a:spcBef>
                <a:spcPts val="600"/>
              </a:spcBef>
              <a:spcAft>
                <a:spcPts val="1000"/>
              </a:spcAft>
            </a:pPr>
            <a:r>
              <a:rPr sz="1650" b="1">
                <a:solidFill>
                  <a:srgbClr val="5F6B6A"/>
                </a:solidFill>
                <a:latin typeface="Calibri"/>
              </a:rPr>
              <a:t>Scope note: this is a new APPLICATION + enhancement of WOA, not a new metaheuristic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Real data, not synthetic</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Both sides of the problem come from production sources</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6</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900"/>
              </a:spcAft>
            </a:pPr>
            <a:r>
              <a:rPr sz="1600" b="1">
                <a:solidFill>
                  <a:srgbClr val="1A1A1A"/>
                </a:solidFill>
                <a:latin typeface="Calibri"/>
              </a:rPr>
              <a:t>Workload — Google Cluster Trace (2011)</a:t>
            </a:r>
          </a:p>
          <a:p>
            <a:pPr lvl="1">
              <a:spcBef>
                <a:spcPts val="0"/>
              </a:spcBef>
              <a:spcAft>
                <a:spcPts val="400"/>
              </a:spcAft>
            </a:pPr>
            <a:r>
              <a:rPr sz="1400" b="0">
                <a:solidFill>
                  <a:srgbClr val="5F6B6A"/>
                </a:solidFill>
                <a:latin typeface="Calibri"/>
              </a:rPr>
              <a:t>–  Task events table: submit events paired with finish events</a:t>
            </a:r>
          </a:p>
          <a:p>
            <a:pPr lvl="1">
              <a:spcBef>
                <a:spcPts val="0"/>
              </a:spcBef>
              <a:spcAft>
                <a:spcPts val="400"/>
              </a:spcAft>
            </a:pPr>
            <a:r>
              <a:rPr sz="1400" b="0">
                <a:solidFill>
                  <a:srgbClr val="5F6B6A"/>
                </a:solidFill>
                <a:latin typeface="Calibri"/>
              </a:rPr>
              <a:t>–  Durations computed from real timestamps; utilisation from real CPU requests</a:t>
            </a:r>
          </a:p>
          <a:p>
            <a:pPr lvl="1">
              <a:spcBef>
                <a:spcPts val="0"/>
              </a:spcBef>
              <a:spcAft>
                <a:spcPts val="400"/>
              </a:spcAft>
            </a:pPr>
            <a:r>
              <a:rPr sz="1400" b="0">
                <a:solidFill>
                  <a:srgbClr val="5F6B6A"/>
                </a:solidFill>
                <a:latin typeface="Calibri"/>
              </a:rPr>
              <a:t>–  60 tasks in the main experiment, extended to 300 in the scalability study</a:t>
            </a:r>
          </a:p>
          <a:p>
            <a:pPr>
              <a:spcBef>
                <a:spcPts val="600"/>
              </a:spcBef>
              <a:spcAft>
                <a:spcPts val="900"/>
              </a:spcAft>
            </a:pPr>
            <a:r>
              <a:rPr sz="1600" b="1">
                <a:solidFill>
                  <a:srgbClr val="1A1A1A"/>
                </a:solidFill>
                <a:latin typeface="Calibri"/>
              </a:rPr>
              <a:t>Carbon — UK National Grid Carbon Intensity API</a:t>
            </a:r>
          </a:p>
          <a:p>
            <a:pPr lvl="1">
              <a:spcBef>
                <a:spcPts val="0"/>
              </a:spcBef>
              <a:spcAft>
                <a:spcPts val="400"/>
              </a:spcAft>
            </a:pPr>
            <a:r>
              <a:rPr sz="1400" b="0">
                <a:solidFill>
                  <a:srgbClr val="5F6B6A"/>
                </a:solidFill>
                <a:latin typeface="Calibri"/>
              </a:rPr>
              <a:t>–  Real half-hourly measurements: 48 slots per day over a 3-day window</a:t>
            </a:r>
          </a:p>
          <a:p>
            <a:pPr lvl="1">
              <a:spcBef>
                <a:spcPts val="0"/>
              </a:spcBef>
              <a:spcAft>
                <a:spcPts val="400"/>
              </a:spcAft>
            </a:pPr>
            <a:r>
              <a:rPr sz="1400" b="0">
                <a:solidFill>
                  <a:srgbClr val="5F6B6A"/>
                </a:solidFill>
                <a:latin typeface="Calibri"/>
              </a:rPr>
              <a:t>–  The actual curve the grid followed — not a synthetic sine wave</a:t>
            </a:r>
          </a:p>
          <a:p>
            <a:pPr>
              <a:spcBef>
                <a:spcPts val="600"/>
              </a:spcBef>
              <a:spcAft>
                <a:spcPts val="900"/>
              </a:spcAft>
            </a:pPr>
            <a:r>
              <a:rPr sz="1600" b="1">
                <a:solidFill>
                  <a:srgbClr val="2E8B57"/>
                </a:solidFill>
                <a:latin typeface="Calibri"/>
              </a:rPr>
              <a:t>Why this matters for validity:</a:t>
            </a:r>
          </a:p>
          <a:p>
            <a:pPr lvl="1">
              <a:spcBef>
                <a:spcPts val="0"/>
              </a:spcBef>
              <a:spcAft>
                <a:spcPts val="400"/>
              </a:spcAft>
            </a:pPr>
            <a:r>
              <a:rPr sz="1400" b="0">
                <a:solidFill>
                  <a:srgbClr val="5F6B6A"/>
                </a:solidFill>
                <a:latin typeface="Calibri"/>
              </a:rPr>
              <a:t>–  A synthetic curve can be made as peaky as you like — and the 'improvement' follows</a:t>
            </a:r>
          </a:p>
          <a:p>
            <a:pPr lvl="1">
              <a:spcBef>
                <a:spcPts val="0"/>
              </a:spcBef>
              <a:spcAft>
                <a:spcPts val="400"/>
              </a:spcAft>
            </a:pPr>
            <a:r>
              <a:rPr sz="1400" b="0">
                <a:solidFill>
                  <a:srgbClr val="5F6B6A"/>
                </a:solidFill>
                <a:latin typeface="Calibri"/>
              </a:rPr>
              <a:t>–  Real data means the size of the opportunity is set by the grid, not by me</a:t>
            </a:r>
          </a:p>
          <a:p>
            <a:pPr>
              <a:spcBef>
                <a:spcPts val="600"/>
              </a:spcBef>
              <a:spcAft>
                <a:spcPts val="900"/>
              </a:spcAft>
            </a:pPr>
            <a:r>
              <a:rPr sz="1600" b="1">
                <a:solidFill>
                  <a:srgbClr val="C87A1E"/>
                </a:solidFill>
                <a:latin typeface="Calibri"/>
              </a:rPr>
              <a:t>Modelled, not measured: electricity tariff (£0.30 peak / £0.15 off-peak)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System model</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Every quantity in the objective traces back to these four equations</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7</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900"/>
              </a:spcAft>
            </a:pPr>
            <a:r>
              <a:rPr sz="1600" b="1">
                <a:solidFill>
                  <a:srgbClr val="1A1A1A"/>
                </a:solidFill>
                <a:latin typeface="Calibri"/>
              </a:rPr>
              <a:t>Per-slot server energy — standard linear idle-to-peak model</a:t>
            </a:r>
          </a:p>
          <a:p>
            <a:pPr lvl="1">
              <a:spcBef>
                <a:spcPts val="0"/>
              </a:spcBef>
              <a:spcAft>
                <a:spcPts val="400"/>
              </a:spcAft>
            </a:pPr>
            <a:r>
              <a:rPr sz="1400" b="0">
                <a:solidFill>
                  <a:srgbClr val="5F6B6A"/>
                </a:solidFill>
                <a:latin typeface="Calibri"/>
              </a:rPr>
              <a:t>–  E(u) = [ P_idle + (P_max − P_idle) · u ] · Δt / 1000     kWh</a:t>
            </a:r>
          </a:p>
          <a:p>
            <a:pPr lvl="1">
              <a:spcBef>
                <a:spcPts val="0"/>
              </a:spcBef>
              <a:spcAft>
                <a:spcPts val="400"/>
              </a:spcAft>
            </a:pPr>
            <a:r>
              <a:rPr sz="1400" b="0">
                <a:solidFill>
                  <a:srgbClr val="5F6B6A"/>
                </a:solidFill>
                <a:latin typeface="Calibri"/>
              </a:rPr>
              <a:t>–  P_idle = 100 W,  P_max = 250 W,  Δt = 0.5 h (a half-hourly slot)</a:t>
            </a:r>
          </a:p>
          <a:p>
            <a:pPr>
              <a:spcBef>
                <a:spcPts val="600"/>
              </a:spcBef>
              <a:spcAft>
                <a:spcPts val="900"/>
              </a:spcAft>
            </a:pPr>
            <a:r>
              <a:rPr sz="1600" b="1">
                <a:solidFill>
                  <a:srgbClr val="1A1A1A"/>
                </a:solidFill>
                <a:latin typeface="Calibri"/>
              </a:rPr>
              <a:t>Carbon — the only term that depends on WHEN the task runs</a:t>
            </a:r>
          </a:p>
          <a:p>
            <a:pPr lvl="1">
              <a:spcBef>
                <a:spcPts val="0"/>
              </a:spcBef>
              <a:spcAft>
                <a:spcPts val="400"/>
              </a:spcAft>
            </a:pPr>
            <a:r>
              <a:rPr sz="1400" b="0">
                <a:solidFill>
                  <a:srgbClr val="5F6B6A"/>
                </a:solidFill>
                <a:latin typeface="Calibri"/>
              </a:rPr>
              <a:t>–  C = Σ over occupied slots k of  E · CI(k)     gCO₂  →  kgCO₂</a:t>
            </a:r>
          </a:p>
          <a:p>
            <a:pPr>
              <a:spcBef>
                <a:spcPts val="600"/>
              </a:spcBef>
              <a:spcAft>
                <a:spcPts val="900"/>
              </a:spcAft>
            </a:pPr>
            <a:r>
              <a:rPr sz="1600" b="1">
                <a:solidFill>
                  <a:srgbClr val="1A1A1A"/>
                </a:solidFill>
                <a:latin typeface="Calibri"/>
              </a:rPr>
              <a:t>Cost — same energy, against the slot's tariff</a:t>
            </a:r>
          </a:p>
          <a:p>
            <a:pPr lvl="1">
              <a:spcBef>
                <a:spcPts val="0"/>
              </a:spcBef>
              <a:spcAft>
                <a:spcPts val="400"/>
              </a:spcAft>
            </a:pPr>
            <a:r>
              <a:rPr sz="1400" b="0">
                <a:solidFill>
                  <a:srgbClr val="5F6B6A"/>
                </a:solidFill>
                <a:latin typeface="Calibri"/>
              </a:rPr>
              <a:t>–  £ = Σ over occupied slots k of  E · price(k)</a:t>
            </a:r>
          </a:p>
          <a:p>
            <a:pPr>
              <a:spcBef>
                <a:spcPts val="600"/>
              </a:spcBef>
              <a:spcAft>
                <a:spcPts val="900"/>
              </a:spcAft>
            </a:pPr>
            <a:r>
              <a:rPr sz="1600" b="1">
                <a:solidFill>
                  <a:srgbClr val="1A1A1A"/>
                </a:solidFill>
                <a:latin typeface="Calibri"/>
              </a:rPr>
              <a:t>SLA violation — binary per task, reported as a percentage</a:t>
            </a:r>
          </a:p>
          <a:p>
            <a:pPr lvl="1">
              <a:spcBef>
                <a:spcPts val="0"/>
              </a:spcBef>
              <a:spcAft>
                <a:spcPts val="400"/>
              </a:spcAft>
            </a:pPr>
            <a:r>
              <a:rPr sz="1400" b="0">
                <a:solidFill>
                  <a:srgbClr val="5F6B6A"/>
                </a:solidFill>
                <a:latin typeface="Calibri"/>
              </a:rPr>
              <a:t>–  violated if  start + duration  &gt;  deadline</a:t>
            </a:r>
          </a:p>
          <a:p>
            <a:pPr>
              <a:spcBef>
                <a:spcPts val="600"/>
              </a:spcBef>
              <a:spcAft>
                <a:spcPts val="900"/>
              </a:spcAft>
            </a:pPr>
            <a:r>
              <a:rPr sz="1600" b="1">
                <a:solidFill>
                  <a:srgbClr val="5F6B6A"/>
                </a:solidFill>
                <a:latin typeface="Calibri"/>
              </a:rPr>
              <a:t>The same model is applied to every algorithm — a shared, transparent simplification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Problem formulation</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Continuous encoding so that all six metaheuristics can run unmodified</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8</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900"/>
              </a:spcAft>
            </a:pPr>
            <a:r>
              <a:rPr sz="1600" b="1">
                <a:solidFill>
                  <a:srgbClr val="1A1A1A"/>
                </a:solidFill>
                <a:latin typeface="Calibri"/>
              </a:rPr>
              <a:t>Decision variable — x ∈ [0,1]⁶⁰, one continuous gene per task</a:t>
            </a:r>
          </a:p>
          <a:p>
            <a:pPr lvl="1">
              <a:spcBef>
                <a:spcPts val="0"/>
              </a:spcBef>
              <a:spcAft>
                <a:spcPts val="400"/>
              </a:spcAft>
            </a:pPr>
            <a:r>
              <a:rPr sz="1400" b="0">
                <a:solidFill>
                  <a:srgbClr val="5F6B6A"/>
                </a:solidFill>
                <a:latin typeface="Calibri"/>
              </a:rPr>
              <a:t>–  x_i = the fractional deferral of task i within the room available to it</a:t>
            </a:r>
          </a:p>
          <a:p>
            <a:pPr>
              <a:spcBef>
                <a:spcPts val="600"/>
              </a:spcBef>
              <a:spcAft>
                <a:spcPts val="900"/>
              </a:spcAft>
            </a:pPr>
            <a:r>
              <a:rPr sz="1600" b="1">
                <a:solidFill>
                  <a:srgbClr val="1A1A1A"/>
                </a:solidFill>
                <a:latin typeface="Calibri"/>
              </a:rPr>
              <a:t>Decoder — maps the continuous vector back to discrete start slots</a:t>
            </a:r>
          </a:p>
          <a:p>
            <a:pPr lvl="1">
              <a:spcBef>
                <a:spcPts val="0"/>
              </a:spcBef>
              <a:spcAft>
                <a:spcPts val="400"/>
              </a:spcAft>
            </a:pPr>
            <a:r>
              <a:rPr sz="1400" b="0">
                <a:solidFill>
                  <a:srgbClr val="5F6B6A"/>
                </a:solidFill>
                <a:latin typeface="Calibri"/>
              </a:rPr>
              <a:t>–  room_i = min( MAX_DEFER, H − duration_i − earliest_i ),   MAX_DEFER = 24 slots (12 h)</a:t>
            </a:r>
          </a:p>
          <a:p>
            <a:pPr lvl="1">
              <a:spcBef>
                <a:spcPts val="0"/>
              </a:spcBef>
              <a:spcAft>
                <a:spcPts val="400"/>
              </a:spcAft>
            </a:pPr>
            <a:r>
              <a:rPr sz="1400" b="0">
                <a:solidFill>
                  <a:srgbClr val="5F6B6A"/>
                </a:solidFill>
                <a:latin typeface="Calibri"/>
              </a:rPr>
              <a:t>–  start_i = earliest_i + round( x_i · room_i )</a:t>
            </a:r>
          </a:p>
          <a:p>
            <a:pPr>
              <a:spcBef>
                <a:spcPts val="600"/>
              </a:spcBef>
              <a:spcAft>
                <a:spcPts val="900"/>
              </a:spcAft>
            </a:pPr>
            <a:r>
              <a:rPr sz="1600" b="1">
                <a:solidFill>
                  <a:srgbClr val="103D38"/>
                </a:solidFill>
                <a:latin typeface="Calibri"/>
              </a:rPr>
              <a:t>Why continuous rather than discrete?</a:t>
            </a:r>
          </a:p>
          <a:p>
            <a:pPr lvl="1">
              <a:spcBef>
                <a:spcPts val="0"/>
              </a:spcBef>
              <a:spcAft>
                <a:spcPts val="400"/>
              </a:spcAft>
            </a:pPr>
            <a:r>
              <a:rPr sz="1400" b="0">
                <a:solidFill>
                  <a:srgbClr val="5F6B6A"/>
                </a:solidFill>
                <a:latin typeface="Calibri"/>
              </a:rPr>
              <a:t>–  All six metaheuristics run unmodified on the same unit hypercube</a:t>
            </a:r>
          </a:p>
          <a:p>
            <a:pPr lvl="1">
              <a:spcBef>
                <a:spcPts val="0"/>
              </a:spcBef>
              <a:spcAft>
                <a:spcPts val="400"/>
              </a:spcAft>
            </a:pPr>
            <a:r>
              <a:rPr sz="1400" b="0">
                <a:solidFill>
                  <a:srgbClr val="5F6B6A"/>
                </a:solidFill>
                <a:latin typeface="Calibri"/>
              </a:rPr>
              <a:t>–  No per-algorithm discretisation → no per-algorithm advantage baked into the encoding</a:t>
            </a:r>
          </a:p>
          <a:p>
            <a:pPr>
              <a:spcBef>
                <a:spcPts val="600"/>
              </a:spcBef>
              <a:spcAft>
                <a:spcPts val="900"/>
              </a:spcAft>
            </a:pPr>
            <a:r>
              <a:rPr sz="1600" b="1">
                <a:solidFill>
                  <a:srgbClr val="5F6B6A"/>
                </a:solidFill>
                <a:latin typeface="Calibri"/>
              </a:rPr>
              <a:t>The 12-hour deferral cap is a realism constraint, not a tuning knob</a:t>
            </a:r>
          </a:p>
          <a:p>
            <a:pPr lvl="1">
              <a:spcBef>
                <a:spcPts val="0"/>
              </a:spcBef>
              <a:spcAft>
                <a:spcPts val="400"/>
              </a:spcAft>
            </a:pPr>
            <a:r>
              <a:rPr sz="1400" b="0">
                <a:solidFill>
                  <a:srgbClr val="5F6B6A"/>
                </a:solidFill>
                <a:latin typeface="Calibri"/>
              </a:rPr>
              <a:t>–  Without it the optimiser would defer work indefinitely into the future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Objective function</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Normalised weighted sum — the weights sum to exactly 1</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9</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800"/>
              </a:spcAft>
            </a:pPr>
            <a:r>
              <a:rPr sz="1600" b="1">
                <a:solidFill>
                  <a:srgbClr val="1A1A1A"/>
                </a:solidFill>
                <a:latin typeface="Calibri"/>
              </a:rPr>
              <a:t>Three objectives with incompatible units — kgCO₂, a percentage, and £</a:t>
            </a:r>
          </a:p>
          <a:p>
            <a:pPr lvl="1">
              <a:spcBef>
                <a:spcPts val="0"/>
              </a:spcBef>
              <a:spcAft>
                <a:spcPts val="300"/>
              </a:spcAft>
            </a:pPr>
            <a:r>
              <a:rPr sz="1400" b="0">
                <a:solidFill>
                  <a:srgbClr val="5F6B6A"/>
                </a:solidFill>
                <a:latin typeface="Calibri"/>
              </a:rPr>
              <a:t>–  Each is divided by its FIFO-baseline value → unitless, ~1.0 means 'no better than nothing'</a:t>
            </a:r>
          </a:p>
          <a:p>
            <a:pPr>
              <a:spcBef>
                <a:spcPts val="600"/>
              </a:spcBef>
              <a:spcAft>
                <a:spcPts val="800"/>
              </a:spcAft>
            </a:pPr>
            <a:r>
              <a:rPr sz="1600" b="1">
                <a:solidFill>
                  <a:srgbClr val="103D38"/>
                </a:solidFill>
                <a:latin typeface="Calibri"/>
              </a:rPr>
              <a:t>f(x)  =  α · (carbon / carbon_base)  +  β · (SLA / 100)  +  γ · (cost / cost_base)</a:t>
            </a:r>
          </a:p>
          <a:p>
            <a:pPr lvl="1">
              <a:spcBef>
                <a:spcPts val="0"/>
              </a:spcBef>
              <a:spcAft>
                <a:spcPts val="300"/>
              </a:spcAft>
            </a:pPr>
            <a:r>
              <a:rPr sz="1400" b="0">
                <a:solidFill>
                  <a:srgbClr val="5F6B6A"/>
                </a:solidFill>
                <a:latin typeface="Calibri"/>
              </a:rPr>
              <a:t>–  α = 0.4 (carbon)   β = 0.3 (SLA)   γ = 0.3 (cost)      α + β + γ = 1.0</a:t>
            </a:r>
          </a:p>
          <a:p>
            <a:pPr lvl="1">
              <a:spcBef>
                <a:spcPts val="0"/>
              </a:spcBef>
              <a:spcAft>
                <a:spcPts val="300"/>
              </a:spcAft>
            </a:pPr>
            <a:r>
              <a:rPr sz="1400" b="0">
                <a:solidFill>
                  <a:srgbClr val="5F6B6A"/>
                </a:solidFill>
                <a:latin typeface="Calibri"/>
              </a:rPr>
              <a:t>–  Enforced by an assertion in the source — not left to trust</a:t>
            </a:r>
          </a:p>
          <a:p>
            <a:pPr>
              <a:spcBef>
                <a:spcPts val="600"/>
              </a:spcBef>
              <a:spcAft>
                <a:spcPts val="800"/>
              </a:spcAft>
            </a:pPr>
            <a:r>
              <a:rPr sz="1600" b="1">
                <a:solidFill>
                  <a:srgbClr val="C87A1E"/>
                </a:solidFill>
                <a:latin typeface="Calibri"/>
              </a:rPr>
              <a:t>This replaced an earlier arbitrary ×3 SLA penalty</a:t>
            </a:r>
          </a:p>
          <a:p>
            <a:pPr lvl="1">
              <a:spcBef>
                <a:spcPts val="0"/>
              </a:spcBef>
              <a:spcAft>
                <a:spcPts val="300"/>
              </a:spcAft>
            </a:pPr>
            <a:r>
              <a:rPr sz="1400" b="0">
                <a:solidFill>
                  <a:srgbClr val="5F6B6A"/>
                </a:solidFill>
                <a:latin typeface="Calibri"/>
              </a:rPr>
              <a:t>–  The old multiplier had no justification and left the terms non-commensurable</a:t>
            </a:r>
          </a:p>
          <a:p>
            <a:pPr lvl="1">
              <a:spcBef>
                <a:spcPts val="0"/>
              </a:spcBef>
              <a:spcAft>
                <a:spcPts val="300"/>
              </a:spcAft>
            </a:pPr>
            <a:r>
              <a:rPr sz="1400" b="0">
                <a:solidFill>
                  <a:srgbClr val="5F6B6A"/>
                </a:solidFill>
                <a:latin typeface="Calibri"/>
              </a:rPr>
              <a:t>–  Everything was re-run; headline results were essentially unchanged</a:t>
            </a:r>
          </a:p>
          <a:p>
            <a:pPr>
              <a:spcBef>
                <a:spcPts val="600"/>
              </a:spcBef>
              <a:spcAft>
                <a:spcPts val="800"/>
              </a:spcAft>
            </a:pPr>
            <a:r>
              <a:rPr sz="1600" b="1">
                <a:solidFill>
                  <a:srgbClr val="5F6B6A"/>
                </a:solidFill>
                <a:latin typeface="Calibri"/>
              </a:rPr>
              <a:t>Honest position on the weights:</a:t>
            </a:r>
          </a:p>
          <a:p>
            <a:pPr lvl="1">
              <a:spcBef>
                <a:spcPts val="0"/>
              </a:spcBef>
              <a:spcAft>
                <a:spcPts val="300"/>
              </a:spcAft>
            </a:pPr>
            <a:r>
              <a:rPr sz="1400" b="0">
                <a:solidFill>
                  <a:srgbClr val="5F6B6A"/>
                </a:solidFill>
                <a:latin typeface="Calibri"/>
              </a:rPr>
              <a:t>–  Carbon is weighted highest because it is the thesis objective; the rest split evenly</a:t>
            </a:r>
          </a:p>
          <a:p>
            <a:pPr lvl="1">
              <a:spcBef>
                <a:spcPts val="0"/>
              </a:spcBef>
              <a:spcAft>
                <a:spcPts val="300"/>
              </a:spcAft>
            </a:pPr>
            <a:r>
              <a:rPr sz="1400" b="0">
                <a:solidFill>
                  <a:srgbClr val="5F6B6A"/>
                </a:solidFill>
                <a:latin typeface="Calibri"/>
              </a:rPr>
              <a:t>–  I do not claim these are optimal — a sensitivity sweep is stated future 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Proposed method — CA-WOA</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Carbon-Aware Whale Optimization Algorithm</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10</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900"/>
              </a:spcAft>
            </a:pPr>
            <a:r>
              <a:rPr sz="1600" b="1">
                <a:solidFill>
                  <a:srgbClr val="1A1A1A"/>
                </a:solidFill>
                <a:latin typeface="Calibri"/>
              </a:rPr>
              <a:t>Standard WOA initialises its population uniformly at random</a:t>
            </a:r>
          </a:p>
          <a:p>
            <a:pPr lvl="1">
              <a:spcBef>
                <a:spcPts val="0"/>
              </a:spcBef>
              <a:spcAft>
                <a:spcPts val="400"/>
              </a:spcAft>
            </a:pPr>
            <a:r>
              <a:rPr sz="1400" b="0">
                <a:solidFill>
                  <a:srgbClr val="5F6B6A"/>
                </a:solidFill>
                <a:latin typeface="Calibri"/>
              </a:rPr>
              <a:t>–  But we can SEE the carbon curve — random initialisation throws that knowledge away</a:t>
            </a:r>
          </a:p>
          <a:p>
            <a:pPr>
              <a:spcBef>
                <a:spcPts val="600"/>
              </a:spcBef>
              <a:spcAft>
                <a:spcPts val="900"/>
              </a:spcAft>
            </a:pPr>
            <a:r>
              <a:rPr sz="1600" b="1">
                <a:solidFill>
                  <a:srgbClr val="103D38"/>
                </a:solidFill>
                <a:latin typeface="Calibri"/>
              </a:rPr>
              <a:t>CA-WOA replaces random initialisation with a carbon-aware seeded population:</a:t>
            </a:r>
          </a:p>
          <a:p>
            <a:pPr lvl="1">
              <a:spcBef>
                <a:spcPts val="0"/>
              </a:spcBef>
              <a:spcAft>
                <a:spcPts val="400"/>
              </a:spcAft>
            </a:pPr>
            <a:r>
              <a:rPr sz="1400" b="0">
                <a:solidFill>
                  <a:srgbClr val="5F6B6A"/>
                </a:solidFill>
                <a:latin typeface="Calibri"/>
              </a:rPr>
              <a:t>–  1 greedy seed — per task, the lowest-carbon start slot that still meets the deadline</a:t>
            </a:r>
          </a:p>
          <a:p>
            <a:pPr lvl="1">
              <a:spcBef>
                <a:spcPts val="0"/>
              </a:spcBef>
              <a:spcAft>
                <a:spcPts val="400"/>
              </a:spcAft>
            </a:pPr>
            <a:r>
              <a:rPr sz="1400" b="0">
                <a:solidFill>
                  <a:srgbClr val="5F6B6A"/>
                </a:solidFill>
                <a:latin typeface="Calibri"/>
              </a:rPr>
              <a:t>–  16 perturbed greedy (⅓) — the seed plus Gaussian noise (σ = 0.10) for local diversity</a:t>
            </a:r>
          </a:p>
          <a:p>
            <a:pPr lvl="1">
              <a:spcBef>
                <a:spcPts val="0"/>
              </a:spcBef>
              <a:spcAft>
                <a:spcPts val="400"/>
              </a:spcAft>
            </a:pPr>
            <a:r>
              <a:rPr sz="1400" b="0">
                <a:solidFill>
                  <a:srgbClr val="5F6B6A"/>
                </a:solidFill>
                <a:latin typeface="Calibri"/>
              </a:rPr>
              <a:t>–  33 uniformly random (⅔) — the majority stays random, preserving global exploration</a:t>
            </a:r>
          </a:p>
          <a:p>
            <a:pPr>
              <a:spcBef>
                <a:spcPts val="600"/>
              </a:spcBef>
              <a:spcAft>
                <a:spcPts val="900"/>
              </a:spcAft>
            </a:pPr>
            <a:r>
              <a:rPr sz="1600" b="1">
                <a:solidFill>
                  <a:srgbClr val="2E8B57"/>
                </a:solidFill>
                <a:latin typeface="Calibri"/>
              </a:rPr>
              <a:t>Why not just use the greedy solution directly?</a:t>
            </a:r>
          </a:p>
          <a:p>
            <a:pPr lvl="1">
              <a:spcBef>
                <a:spcPts val="0"/>
              </a:spcBef>
              <a:spcAft>
                <a:spcPts val="400"/>
              </a:spcAft>
            </a:pPr>
            <a:r>
              <a:rPr sz="1400" b="0">
                <a:solidFill>
                  <a:srgbClr val="5F6B6A"/>
                </a:solidFill>
                <a:latin typeface="Calibri"/>
              </a:rPr>
              <a:t>–  Greedy is per-task and myopic — blind to contention when tasks pile into the same clean hour</a:t>
            </a:r>
          </a:p>
          <a:p>
            <a:pPr lvl="1">
              <a:spcBef>
                <a:spcPts val="0"/>
              </a:spcBef>
              <a:spcAft>
                <a:spcPts val="400"/>
              </a:spcAft>
            </a:pPr>
            <a:r>
              <a:rPr sz="1400" b="0">
                <a:solidFill>
                  <a:srgbClr val="5F6B6A"/>
                </a:solidFill>
                <a:latin typeface="Calibri"/>
              </a:rPr>
              <a:t>–  WOA's search refines the combination:  greedy 82.56%  →  CA-WOA 83.25%</a:t>
            </a:r>
          </a:p>
          <a:p>
            <a:pPr>
              <a:spcBef>
                <a:spcPts val="600"/>
              </a:spcBef>
              <a:spcAft>
                <a:spcPts val="900"/>
              </a:spcAft>
            </a:pPr>
            <a:r>
              <a:rPr sz="1600" b="1">
                <a:solidFill>
                  <a:srgbClr val="5F6B6A"/>
                </a:solidFill>
                <a:latin typeface="Calibri"/>
              </a:rPr>
              <a:t>Everything else is unmodified WOA (Mirjalili &amp; Lewis 2016) via Mealpy 3.0.3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Experimental design — the level playing field</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The methodological contribution, independent of whether CA-WOA wins</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11</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900"/>
              </a:spcAft>
            </a:pPr>
            <a:r>
              <a:rPr sz="1600" b="1">
                <a:solidFill>
                  <a:srgbClr val="1A1A1A"/>
                </a:solidFill>
                <a:latin typeface="Calibri"/>
              </a:rPr>
              <a:t>Held identical across all six algorithms:</a:t>
            </a:r>
          </a:p>
          <a:p>
            <a:pPr lvl="1">
              <a:spcBef>
                <a:spcPts val="0"/>
              </a:spcBef>
              <a:spcAft>
                <a:spcPts val="400"/>
              </a:spcAft>
            </a:pPr>
            <a:r>
              <a:rPr sz="1400" b="0">
                <a:solidFill>
                  <a:srgbClr val="5F6B6A"/>
                </a:solidFill>
                <a:latin typeface="Calibri"/>
              </a:rPr>
              <a:t>–  Same 60-task workload · same real carbon series · same encoding and decoder</a:t>
            </a:r>
          </a:p>
          <a:p>
            <a:pPr lvl="1">
              <a:spcBef>
                <a:spcPts val="0"/>
              </a:spcBef>
              <a:spcAft>
                <a:spcPts val="400"/>
              </a:spcAft>
            </a:pPr>
            <a:r>
              <a:rPr sz="1400" b="0">
                <a:solidFill>
                  <a:srgbClr val="5F6B6A"/>
                </a:solidFill>
                <a:latin typeface="Calibri"/>
              </a:rPr>
              <a:t>–  Same fitness function · same budget (150 epochs × population 50) · same seed (42)</a:t>
            </a:r>
          </a:p>
          <a:p>
            <a:pPr lvl="1">
              <a:spcBef>
                <a:spcPts val="0"/>
              </a:spcBef>
              <a:spcAft>
                <a:spcPts val="400"/>
              </a:spcAft>
            </a:pPr>
            <a:r>
              <a:rPr sz="1400" b="0">
                <a:solidFill>
                  <a:srgbClr val="5F6B6A"/>
                </a:solidFill>
                <a:latin typeface="Calibri"/>
              </a:rPr>
              <a:t>–  All six from Mealpy 3.0.3 in standard published form — none tuned, including my own</a:t>
            </a:r>
          </a:p>
          <a:p>
            <a:pPr>
              <a:spcBef>
                <a:spcPts val="600"/>
              </a:spcBef>
              <a:spcAft>
                <a:spcPts val="900"/>
              </a:spcAft>
            </a:pPr>
            <a:r>
              <a:rPr sz="1600" b="1">
                <a:solidFill>
                  <a:srgbClr val="1A1A1A"/>
                </a:solidFill>
                <a:latin typeface="Calibri"/>
              </a:rPr>
              <a:t>Baselines — three, deliberately</a:t>
            </a:r>
          </a:p>
          <a:p>
            <a:pPr lvl="1">
              <a:spcBef>
                <a:spcPts val="0"/>
              </a:spcBef>
              <a:spcAft>
                <a:spcPts val="400"/>
              </a:spcAft>
            </a:pPr>
            <a:r>
              <a:rPr sz="1400" b="0">
                <a:solidFill>
                  <a:srgbClr val="5F6B6A"/>
                </a:solidFill>
                <a:latin typeface="Calibri"/>
              </a:rPr>
              <a:t>–  FIFO / round-robin — the do-nothing reference all reductions are measured against</a:t>
            </a:r>
          </a:p>
          <a:p>
            <a:pPr lvl="1">
              <a:spcBef>
                <a:spcPts val="0"/>
              </a:spcBef>
              <a:spcAft>
                <a:spcPts val="400"/>
              </a:spcAft>
            </a:pPr>
            <a:r>
              <a:rPr sz="1400" b="0">
                <a:solidFill>
                  <a:srgbClr val="5F6B6A"/>
                </a:solidFill>
                <a:latin typeface="Calibri"/>
              </a:rPr>
              <a:t>–  Energy-aware consolidation — packs load onto fewer hosts</a:t>
            </a:r>
          </a:p>
          <a:p>
            <a:pPr lvl="1">
              <a:spcBef>
                <a:spcPts val="0"/>
              </a:spcBef>
              <a:spcAft>
                <a:spcPts val="400"/>
              </a:spcAft>
            </a:pPr>
            <a:r>
              <a:rPr sz="1400" b="0">
                <a:solidFill>
                  <a:srgbClr val="5F6B6A"/>
                </a:solidFill>
                <a:latin typeface="Calibri"/>
              </a:rPr>
              <a:t>–  Carbon-greedy — tests whether the metaheuristics earn their extra complexity</a:t>
            </a:r>
          </a:p>
          <a:p>
            <a:pPr>
              <a:spcBef>
                <a:spcPts val="600"/>
              </a:spcBef>
              <a:spcAft>
                <a:spcPts val="900"/>
              </a:spcAft>
            </a:pPr>
            <a:r>
              <a:rPr sz="1600" b="1">
                <a:solidFill>
                  <a:srgbClr val="C87A1E"/>
                </a:solidFill>
                <a:latin typeface="Calibri"/>
              </a:rPr>
              <a:t>Acknowledged: untuned defaults are equal treatment, not optimal treatment</a:t>
            </a:r>
          </a:p>
          <a:p>
            <a:pPr lvl="1">
              <a:spcBef>
                <a:spcPts val="0"/>
              </a:spcBef>
              <a:spcAft>
                <a:spcPts val="400"/>
              </a:spcAft>
            </a:pPr>
            <a:r>
              <a:rPr sz="1400" b="0">
                <a:solidFill>
                  <a:srgbClr val="5F6B6A"/>
                </a:solidFill>
                <a:latin typeface="Calibri"/>
              </a:rPr>
              <a:t>–  'PSO does worse here' means with library defaults — not that PSO is inherently worse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D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651760"/>
            <a:ext cx="9997135" cy="457200"/>
          </a:xfrm>
          <a:prstGeom prst="rect">
            <a:avLst/>
          </a:prstGeom>
          <a:noFill/>
        </p:spPr>
        <p:txBody>
          <a:bodyPr wrap="square">
            <a:spAutoFit/>
          </a:bodyPr>
          <a:lstStyle/>
          <a:p>
            <a:pPr algn="l">
              <a:spcAft>
                <a:spcPts val="0"/>
              </a:spcAft>
            </a:pPr>
            <a:r>
              <a:rPr sz="1500" b="1" i="0">
                <a:solidFill>
                  <a:srgbClr val="7BC96F"/>
                </a:solidFill>
                <a:latin typeface="Calibri"/>
              </a:rPr>
              <a:t>PART 5 OF 6</a:t>
            </a:r>
          </a:p>
        </p:txBody>
      </p:sp>
      <p:sp>
        <p:nvSpPr>
          <p:cNvPr id="4" name="TextBox 3"/>
          <p:cNvSpPr txBox="1"/>
          <p:nvPr/>
        </p:nvSpPr>
        <p:spPr>
          <a:xfrm>
            <a:off x="1097280" y="3108960"/>
            <a:ext cx="9997135" cy="1097280"/>
          </a:xfrm>
          <a:prstGeom prst="rect">
            <a:avLst/>
          </a:prstGeom>
          <a:noFill/>
        </p:spPr>
        <p:txBody>
          <a:bodyPr wrap="square">
            <a:spAutoFit/>
          </a:bodyPr>
          <a:lstStyle/>
          <a:p>
            <a:pPr algn="l">
              <a:spcAft>
                <a:spcPts val="0"/>
              </a:spcAft>
            </a:pPr>
            <a:r>
              <a:rPr sz="4000" b="1" i="0">
                <a:solidFill>
                  <a:srgbClr val="FFFFFF"/>
                </a:solidFill>
                <a:latin typeface="Calibri"/>
              </a:rPr>
              <a:t>Results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Headline result</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Host-capacity model, 60 tasks, real data</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12</a:t>
            </a:r>
          </a:p>
        </p:txBody>
      </p:sp>
      <p:sp>
        <p:nvSpPr>
          <p:cNvPr id="6" name="Rectangle 5"/>
          <p:cNvSpPr/>
          <p:nvPr/>
        </p:nvSpPr>
        <p:spPr>
          <a:xfrm>
            <a:off x="640080" y="1783080"/>
            <a:ext cx="3484778" cy="1600200"/>
          </a:xfrm>
          <a:prstGeom prst="rect">
            <a:avLst/>
          </a:prstGeom>
          <a:solidFill>
            <a:srgbClr val="E8F2EE"/>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8B57"/>
                </a:solidFill>
                <a:latin typeface="Calibri"/>
              </a:rPr>
              <a:t>83.25%</a:t>
            </a:r>
          </a:p>
          <a:p>
            <a:pPr algn="ctr"/>
            <a:r>
              <a:rPr sz="1250">
                <a:solidFill>
                  <a:srgbClr val="1A1A1A"/>
                </a:solidFill>
                <a:latin typeface="Calibri"/>
              </a:rPr>
              <a:t>carbon reduction vs FIFO baseline</a:t>
            </a:r>
          </a:p>
        </p:txBody>
      </p:sp>
      <p:sp>
        <p:nvSpPr>
          <p:cNvPr id="7" name="Rectangle 6"/>
          <p:cNvSpPr/>
          <p:nvPr/>
        </p:nvSpPr>
        <p:spPr>
          <a:xfrm>
            <a:off x="4353458" y="1783080"/>
            <a:ext cx="3484778" cy="1600200"/>
          </a:xfrm>
          <a:prstGeom prst="rect">
            <a:avLst/>
          </a:prstGeom>
          <a:solidFill>
            <a:srgbClr val="E8F2EE"/>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8B57"/>
                </a:solidFill>
                <a:latin typeface="Calibri"/>
              </a:rPr>
              <a:t>0%</a:t>
            </a:r>
          </a:p>
          <a:p>
            <a:pPr algn="ctr"/>
            <a:r>
              <a:rPr sz="1250">
                <a:solidFill>
                  <a:srgbClr val="1A1A1A"/>
                </a:solidFill>
                <a:latin typeface="Calibri"/>
              </a:rPr>
              <a:t>SLA violations — all 60 deadlines met</a:t>
            </a:r>
          </a:p>
        </p:txBody>
      </p:sp>
      <p:sp>
        <p:nvSpPr>
          <p:cNvPr id="8" name="Rectangle 7"/>
          <p:cNvSpPr/>
          <p:nvPr/>
        </p:nvSpPr>
        <p:spPr>
          <a:xfrm>
            <a:off x="8066836" y="1783080"/>
            <a:ext cx="3484778" cy="1600200"/>
          </a:xfrm>
          <a:prstGeom prst="rect">
            <a:avLst/>
          </a:prstGeom>
          <a:solidFill>
            <a:srgbClr val="E8F2EE"/>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8B57"/>
                </a:solidFill>
                <a:latin typeface="Calibri"/>
              </a:rPr>
              <a:t>84.0%</a:t>
            </a:r>
          </a:p>
          <a:p>
            <a:pPr algn="ctr"/>
            <a:r>
              <a:rPr sz="1250">
                <a:solidFill>
                  <a:srgbClr val="1A1A1A"/>
                </a:solidFill>
                <a:latin typeface="Calibri"/>
              </a:rPr>
              <a:t>host utilisation (FIFO: 10.0%)</a:t>
            </a:r>
          </a:p>
        </p:txBody>
      </p:sp>
      <p:sp>
        <p:nvSpPr>
          <p:cNvPr id="9" name="TextBox 8"/>
          <p:cNvSpPr txBox="1"/>
          <p:nvPr/>
        </p:nvSpPr>
        <p:spPr>
          <a:xfrm>
            <a:off x="685800" y="3703320"/>
            <a:ext cx="10820095" cy="2514600"/>
          </a:xfrm>
          <a:prstGeom prst="rect">
            <a:avLst/>
          </a:prstGeom>
          <a:noFill/>
        </p:spPr>
        <p:txBody>
          <a:bodyPr wrap="square">
            <a:spAutoFit/>
          </a:bodyPr>
          <a:lstStyle/>
          <a:p>
            <a:pPr>
              <a:spcBef>
                <a:spcPts val="600"/>
              </a:spcBef>
              <a:spcAft>
                <a:spcPts val="900"/>
              </a:spcAft>
            </a:pPr>
            <a:r>
              <a:rPr sz="1600" b="1">
                <a:solidFill>
                  <a:srgbClr val="1A1A1A"/>
                </a:solidFill>
                <a:latin typeface="Calibri"/>
              </a:rPr>
              <a:t>Two effects combine in this model — and I want to separate them clearly:</a:t>
            </a:r>
          </a:p>
          <a:p>
            <a:pPr lvl="1">
              <a:spcBef>
                <a:spcPts val="0"/>
              </a:spcBef>
              <a:spcAft>
                <a:spcPts val="400"/>
              </a:spcAft>
            </a:pPr>
            <a:r>
              <a:rPr sz="1400" b="0">
                <a:solidFill>
                  <a:srgbClr val="5F6B6A"/>
                </a:solidFill>
                <a:latin typeface="Calibri"/>
              </a:rPr>
              <a:t>–  Consolidation cuts the ENERGY itself: 5.03 kWh → 0.93 kWh by packing onto fewer hosts</a:t>
            </a:r>
          </a:p>
          <a:p>
            <a:pPr lvl="1">
              <a:spcBef>
                <a:spcPts val="0"/>
              </a:spcBef>
              <a:spcAft>
                <a:spcPts val="400"/>
              </a:spcAft>
            </a:pPr>
            <a:r>
              <a:rPr sz="1400" b="0">
                <a:solidFill>
                  <a:srgbClr val="5F6B6A"/>
                </a:solidFill>
                <a:latin typeface="Calibri"/>
              </a:rPr>
              <a:t>–  Temporal shifting then moves that reduced load into cleaner slots</a:t>
            </a:r>
          </a:p>
          <a:p>
            <a:pPr>
              <a:spcBef>
                <a:spcPts val="600"/>
              </a:spcBef>
              <a:spcAft>
                <a:spcPts val="900"/>
              </a:spcAft>
            </a:pPr>
            <a:r>
              <a:rPr sz="1600" b="1">
                <a:solidFill>
                  <a:srgbClr val="C87A1E"/>
                </a:solidFill>
                <a:latin typeface="Calibri"/>
              </a:rPr>
              <a:t>The energy-aware baseline alone already reaches 80.5% — most of the 83% is consolidation</a:t>
            </a:r>
          </a:p>
          <a:p>
            <a:pPr lvl="1">
              <a:spcBef>
                <a:spcPts val="0"/>
              </a:spcBef>
              <a:spcAft>
                <a:spcPts val="400"/>
              </a:spcAft>
            </a:pPr>
            <a:r>
              <a:rPr sz="1400" b="0">
                <a:solidFill>
                  <a:srgbClr val="5F6B6A"/>
                </a:solidFill>
                <a:latin typeface="Calibri"/>
              </a:rPr>
              <a:t>–  The carbon-aware contribution is the margin on top, and the 0% SLA at that margin</a:t>
            </a:r>
          </a:p>
          <a:p>
            <a:pPr lvl="1">
              <a:spcBef>
                <a:spcPts val="0"/>
              </a:spcBef>
              <a:spcAft>
                <a:spcPts val="400"/>
              </a:spcAft>
            </a:pPr>
            <a:r>
              <a:rPr sz="1400" b="0">
                <a:solidFill>
                  <a:srgbClr val="5F6B6A"/>
                </a:solidFill>
                <a:latin typeface="Calibri"/>
              </a:rPr>
              <a:t>–  The isolated temporal effect is on the next slide — that is the cleaner measure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Full comparison — host-capacity model</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60 tasks · Google trace · UK grid · identical budget</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13</a:t>
            </a:r>
          </a:p>
        </p:txBody>
      </p:sp>
      <p:graphicFrame>
        <p:nvGraphicFramePr>
          <p:cNvPr id="6" name="Table 5"/>
          <p:cNvGraphicFramePr>
            <a:graphicFrameLocks noGrp="1"/>
          </p:cNvGraphicFramePr>
          <p:nvPr/>
        </p:nvGraphicFramePr>
        <p:xfrm>
          <a:off x="640080" y="1572768"/>
          <a:ext cx="10911532" cy="4224528"/>
        </p:xfrm>
        <a:graphic>
          <a:graphicData uri="http://schemas.openxmlformats.org/drawingml/2006/table">
            <a:tbl>
              <a:tblPr firstRow="1" bandRow="1">
                <a:tableStyleId>{5C22544A-7EE6-4342-B048-85BDC9FD1C3A}</a:tableStyleId>
              </a:tblPr>
              <a:tblGrid>
                <a:gridCol w="4032523"/>
                <a:gridCol w="1541847"/>
                <a:gridCol w="1186036"/>
                <a:gridCol w="1423243"/>
                <a:gridCol w="1186036"/>
                <a:gridCol w="1541847"/>
              </a:tblGrid>
              <a:tr h="384048">
                <a:tc>
                  <a:txBody>
                    <a:bodyPr/>
                    <a:lstStyle/>
                    <a:p>
                      <a:pPr algn="l"/>
                      <a:r>
                        <a:rPr sz="1300" b="1">
                          <a:solidFill>
                            <a:srgbClr val="FFFFFF"/>
                          </a:solidFill>
                          <a:latin typeface="Calibri"/>
                        </a:rPr>
                        <a:t>Method</a:t>
                      </a:r>
                    </a:p>
                  </a:txBody>
                  <a:tcPr anchor="ctr">
                    <a:solidFill>
                      <a:srgbClr val="103D38"/>
                    </a:solidFill>
                  </a:tcPr>
                </a:tc>
                <a:tc>
                  <a:txBody>
                    <a:bodyPr/>
                    <a:lstStyle/>
                    <a:p>
                      <a:pPr algn="ctr"/>
                      <a:r>
                        <a:rPr sz="1300" b="1">
                          <a:solidFill>
                            <a:srgbClr val="FFFFFF"/>
                          </a:solidFill>
                          <a:latin typeface="Calibri"/>
                        </a:rPr>
                        <a:t>Carbon ↓ %</a:t>
                      </a:r>
                    </a:p>
                  </a:txBody>
                  <a:tcPr anchor="ctr">
                    <a:solidFill>
                      <a:srgbClr val="103D38"/>
                    </a:solidFill>
                  </a:tcPr>
                </a:tc>
                <a:tc>
                  <a:txBody>
                    <a:bodyPr/>
                    <a:lstStyle/>
                    <a:p>
                      <a:pPr algn="ctr"/>
                      <a:r>
                        <a:rPr sz="1300" b="1">
                          <a:solidFill>
                            <a:srgbClr val="FFFFFF"/>
                          </a:solidFill>
                          <a:latin typeface="Calibri"/>
                        </a:rPr>
                        <a:t>SLA %</a:t>
                      </a:r>
                    </a:p>
                  </a:txBody>
                  <a:tcPr anchor="ctr">
                    <a:solidFill>
                      <a:srgbClr val="103D38"/>
                    </a:solidFill>
                  </a:tcPr>
                </a:tc>
                <a:tc>
                  <a:txBody>
                    <a:bodyPr/>
                    <a:lstStyle/>
                    <a:p>
                      <a:pPr algn="ctr"/>
                      <a:r>
                        <a:rPr sz="1300" b="1">
                          <a:solidFill>
                            <a:srgbClr val="FFFFFF"/>
                          </a:solidFill>
                          <a:latin typeface="Calibri"/>
                        </a:rPr>
                        <a:t>Energy kWh</a:t>
                      </a:r>
                    </a:p>
                  </a:txBody>
                  <a:tcPr anchor="ctr">
                    <a:solidFill>
                      <a:srgbClr val="103D38"/>
                    </a:solidFill>
                  </a:tcPr>
                </a:tc>
                <a:tc>
                  <a:txBody>
                    <a:bodyPr/>
                    <a:lstStyle/>
                    <a:p>
                      <a:pPr algn="ctr"/>
                      <a:r>
                        <a:rPr sz="1300" b="1">
                          <a:solidFill>
                            <a:srgbClr val="FFFFFF"/>
                          </a:solidFill>
                          <a:latin typeface="Calibri"/>
                        </a:rPr>
                        <a:t>Util %</a:t>
                      </a:r>
                    </a:p>
                  </a:txBody>
                  <a:tcPr anchor="ctr">
                    <a:solidFill>
                      <a:srgbClr val="103D38"/>
                    </a:solidFill>
                  </a:tcPr>
                </a:tc>
                <a:tc>
                  <a:txBody>
                    <a:bodyPr/>
                    <a:lstStyle/>
                    <a:p>
                      <a:pPr algn="ctr"/>
                      <a:r>
                        <a:rPr sz="1300" b="1">
                          <a:solidFill>
                            <a:srgbClr val="FFFFFF"/>
                          </a:solidFill>
                          <a:latin typeface="Calibri"/>
                        </a:rPr>
                        <a:t>Makespan h</a:t>
                      </a:r>
                    </a:p>
                  </a:txBody>
                  <a:tcPr anchor="ctr">
                    <a:solidFill>
                      <a:srgbClr val="103D38"/>
                    </a:solidFill>
                  </a:tcPr>
                </a:tc>
              </a:tr>
              <a:tr h="384048">
                <a:tc>
                  <a:txBody>
                    <a:bodyPr/>
                    <a:lstStyle/>
                    <a:p>
                      <a:pPr algn="l"/>
                      <a:r>
                        <a:rPr sz="1350" b="0">
                          <a:solidFill>
                            <a:srgbClr val="1A1A1A"/>
                          </a:solidFill>
                          <a:latin typeface="Calibri"/>
                        </a:rPr>
                        <a:t>FIFO / Round-Robin (baseline)</a:t>
                      </a:r>
                    </a:p>
                  </a:txBody>
                  <a:tcPr anchor="ctr">
                    <a:solidFill>
                      <a:srgbClr val="FFFFFF"/>
                    </a:solidFill>
                  </a:tcPr>
                </a:tc>
                <a:tc>
                  <a:txBody>
                    <a:bodyPr/>
                    <a:lstStyle/>
                    <a:p>
                      <a:pPr algn="ctr"/>
                      <a:r>
                        <a:rPr sz="1350" b="0">
                          <a:solidFill>
                            <a:srgbClr val="1A1A1A"/>
                          </a:solidFill>
                          <a:latin typeface="Calibri"/>
                        </a:rPr>
                        <a:t>0.0</a:t>
                      </a:r>
                    </a:p>
                  </a:txBody>
                  <a:tcPr anchor="ctr">
                    <a:solidFill>
                      <a:srgbClr val="FFFFFF"/>
                    </a:solidFill>
                  </a:tcPr>
                </a:tc>
                <a:tc>
                  <a:txBody>
                    <a:bodyPr/>
                    <a:lstStyle/>
                    <a:p>
                      <a:pPr algn="ctr"/>
                      <a:r>
                        <a:rPr sz="1350" b="0">
                          <a:solidFill>
                            <a:srgbClr val="1A1A1A"/>
                          </a:solidFill>
                          <a:latin typeface="Calibri"/>
                        </a:rPr>
                        <a:t>0.0</a:t>
                      </a:r>
                    </a:p>
                  </a:txBody>
                  <a:tcPr anchor="ctr">
                    <a:solidFill>
                      <a:srgbClr val="FFFFFF"/>
                    </a:solidFill>
                  </a:tcPr>
                </a:tc>
                <a:tc>
                  <a:txBody>
                    <a:bodyPr/>
                    <a:lstStyle/>
                    <a:p>
                      <a:pPr algn="ctr"/>
                      <a:r>
                        <a:rPr sz="1350" b="0">
                          <a:solidFill>
                            <a:srgbClr val="1A1A1A"/>
                          </a:solidFill>
                          <a:latin typeface="Calibri"/>
                        </a:rPr>
                        <a:t>5.03</a:t>
                      </a:r>
                    </a:p>
                  </a:txBody>
                  <a:tcPr anchor="ctr">
                    <a:solidFill>
                      <a:srgbClr val="FFFFFF"/>
                    </a:solidFill>
                  </a:tcPr>
                </a:tc>
                <a:tc>
                  <a:txBody>
                    <a:bodyPr/>
                    <a:lstStyle/>
                    <a:p>
                      <a:pPr algn="ctr"/>
                      <a:r>
                        <a:rPr sz="1350" b="0">
                          <a:solidFill>
                            <a:srgbClr val="1A1A1A"/>
                          </a:solidFill>
                          <a:latin typeface="Calibri"/>
                        </a:rPr>
                        <a:t>10.0</a:t>
                      </a:r>
                    </a:p>
                  </a:txBody>
                  <a:tcPr anchor="ctr">
                    <a:solidFill>
                      <a:srgbClr val="FFFFFF"/>
                    </a:solidFill>
                  </a:tcPr>
                </a:tc>
                <a:tc>
                  <a:txBody>
                    <a:bodyPr/>
                    <a:lstStyle/>
                    <a:p>
                      <a:pPr algn="ctr"/>
                      <a:r>
                        <a:rPr sz="1350" b="0">
                          <a:solidFill>
                            <a:srgbClr val="1A1A1A"/>
                          </a:solidFill>
                          <a:latin typeface="Calibri"/>
                        </a:rPr>
                        <a:t>2.0</a:t>
                      </a:r>
                    </a:p>
                  </a:txBody>
                  <a:tcPr anchor="ctr">
                    <a:solidFill>
                      <a:srgbClr val="FFFFFF"/>
                    </a:solidFill>
                  </a:tcPr>
                </a:tc>
              </a:tr>
              <a:tr h="384048">
                <a:tc>
                  <a:txBody>
                    <a:bodyPr/>
                    <a:lstStyle/>
                    <a:p>
                      <a:pPr algn="l"/>
                      <a:r>
                        <a:rPr sz="1350" b="0">
                          <a:solidFill>
                            <a:srgbClr val="1A1A1A"/>
                          </a:solidFill>
                          <a:latin typeface="Calibri"/>
                        </a:rPr>
                        <a:t>Energy-aware (consolidation)</a:t>
                      </a:r>
                    </a:p>
                  </a:txBody>
                  <a:tcPr anchor="ctr">
                    <a:solidFill>
                      <a:srgbClr val="F6F8F7"/>
                    </a:solidFill>
                  </a:tcPr>
                </a:tc>
                <a:tc>
                  <a:txBody>
                    <a:bodyPr/>
                    <a:lstStyle/>
                    <a:p>
                      <a:pPr algn="ctr"/>
                      <a:r>
                        <a:rPr sz="1350" b="0">
                          <a:solidFill>
                            <a:srgbClr val="1A1A1A"/>
                          </a:solidFill>
                          <a:latin typeface="Calibri"/>
                        </a:rPr>
                        <a:t>80.5</a:t>
                      </a:r>
                    </a:p>
                  </a:txBody>
                  <a:tcPr anchor="ctr">
                    <a:solidFill>
                      <a:srgbClr val="F6F8F7"/>
                    </a:solidFill>
                  </a:tcPr>
                </a:tc>
                <a:tc>
                  <a:txBody>
                    <a:bodyPr/>
                    <a:lstStyle/>
                    <a:p>
                      <a:pPr algn="ctr"/>
                      <a:r>
                        <a:rPr sz="1350" b="0">
                          <a:solidFill>
                            <a:srgbClr val="1A1A1A"/>
                          </a:solidFill>
                          <a:latin typeface="Calibri"/>
                        </a:rPr>
                        <a:t>0.0</a:t>
                      </a:r>
                    </a:p>
                  </a:txBody>
                  <a:tcPr anchor="ctr">
                    <a:solidFill>
                      <a:srgbClr val="F6F8F7"/>
                    </a:solidFill>
                  </a:tcPr>
                </a:tc>
                <a:tc>
                  <a:txBody>
                    <a:bodyPr/>
                    <a:lstStyle/>
                    <a:p>
                      <a:pPr algn="ctr"/>
                      <a:r>
                        <a:rPr sz="1350" b="0">
                          <a:solidFill>
                            <a:srgbClr val="1A1A1A"/>
                          </a:solidFill>
                          <a:latin typeface="Calibri"/>
                        </a:rPr>
                        <a:t>0.98</a:t>
                      </a:r>
                    </a:p>
                  </a:txBody>
                  <a:tcPr anchor="ctr">
                    <a:solidFill>
                      <a:srgbClr val="F6F8F7"/>
                    </a:solidFill>
                  </a:tcPr>
                </a:tc>
                <a:tc>
                  <a:txBody>
                    <a:bodyPr/>
                    <a:lstStyle/>
                    <a:p>
                      <a:pPr algn="ctr"/>
                      <a:r>
                        <a:rPr sz="1350" b="0">
                          <a:solidFill>
                            <a:srgbClr val="1A1A1A"/>
                          </a:solidFill>
                          <a:latin typeface="Calibri"/>
                        </a:rPr>
                        <a:t>75.2</a:t>
                      </a:r>
                    </a:p>
                  </a:txBody>
                  <a:tcPr anchor="ctr">
                    <a:solidFill>
                      <a:srgbClr val="F6F8F7"/>
                    </a:solidFill>
                  </a:tcPr>
                </a:tc>
                <a:tc>
                  <a:txBody>
                    <a:bodyPr/>
                    <a:lstStyle/>
                    <a:p>
                      <a:pPr algn="ctr"/>
                      <a:r>
                        <a:rPr sz="1350" b="0">
                          <a:solidFill>
                            <a:srgbClr val="1A1A1A"/>
                          </a:solidFill>
                          <a:latin typeface="Calibri"/>
                        </a:rPr>
                        <a:t>2.0</a:t>
                      </a:r>
                    </a:p>
                  </a:txBody>
                  <a:tcPr anchor="ctr">
                    <a:solidFill>
                      <a:srgbClr val="F6F8F7"/>
                    </a:solidFill>
                  </a:tcPr>
                </a:tc>
              </a:tr>
              <a:tr h="384048">
                <a:tc>
                  <a:txBody>
                    <a:bodyPr/>
                    <a:lstStyle/>
                    <a:p>
                      <a:pPr algn="l"/>
                      <a:r>
                        <a:rPr sz="1350" b="0">
                          <a:solidFill>
                            <a:srgbClr val="1A1A1A"/>
                          </a:solidFill>
                          <a:latin typeface="Calibri"/>
                        </a:rPr>
                        <a:t>Carbon-aware greedy</a:t>
                      </a:r>
                    </a:p>
                  </a:txBody>
                  <a:tcPr anchor="ctr">
                    <a:solidFill>
                      <a:srgbClr val="FFFFFF"/>
                    </a:solidFill>
                  </a:tcPr>
                </a:tc>
                <a:tc>
                  <a:txBody>
                    <a:bodyPr/>
                    <a:lstStyle/>
                    <a:p>
                      <a:pPr algn="ctr"/>
                      <a:r>
                        <a:rPr sz="1350" b="0">
                          <a:solidFill>
                            <a:srgbClr val="1A1A1A"/>
                          </a:solidFill>
                          <a:latin typeface="Calibri"/>
                        </a:rPr>
                        <a:t>82.56</a:t>
                      </a:r>
                    </a:p>
                  </a:txBody>
                  <a:tcPr anchor="ctr">
                    <a:solidFill>
                      <a:srgbClr val="FFFFFF"/>
                    </a:solidFill>
                  </a:tcPr>
                </a:tc>
                <a:tc>
                  <a:txBody>
                    <a:bodyPr/>
                    <a:lstStyle/>
                    <a:p>
                      <a:pPr algn="ctr"/>
                      <a:r>
                        <a:rPr sz="1350" b="0">
                          <a:solidFill>
                            <a:srgbClr val="1A1A1A"/>
                          </a:solidFill>
                          <a:latin typeface="Calibri"/>
                        </a:rPr>
                        <a:t>0.0</a:t>
                      </a:r>
                    </a:p>
                  </a:txBody>
                  <a:tcPr anchor="ctr">
                    <a:solidFill>
                      <a:srgbClr val="FFFFFF"/>
                    </a:solidFill>
                  </a:tcPr>
                </a:tc>
                <a:tc>
                  <a:txBody>
                    <a:bodyPr/>
                    <a:lstStyle/>
                    <a:p>
                      <a:pPr algn="ctr"/>
                      <a:r>
                        <a:rPr sz="1350" b="0">
                          <a:solidFill>
                            <a:srgbClr val="1A1A1A"/>
                          </a:solidFill>
                          <a:latin typeface="Calibri"/>
                        </a:rPr>
                        <a:t>0.98</a:t>
                      </a:r>
                    </a:p>
                  </a:txBody>
                  <a:tcPr anchor="ctr">
                    <a:solidFill>
                      <a:srgbClr val="FFFFFF"/>
                    </a:solidFill>
                  </a:tcPr>
                </a:tc>
                <a:tc>
                  <a:txBody>
                    <a:bodyPr/>
                    <a:lstStyle/>
                    <a:p>
                      <a:pPr algn="ctr"/>
                      <a:r>
                        <a:rPr sz="1350" b="0">
                          <a:solidFill>
                            <a:srgbClr val="1A1A1A"/>
                          </a:solidFill>
                          <a:latin typeface="Calibri"/>
                        </a:rPr>
                        <a:t>75.2</a:t>
                      </a:r>
                    </a:p>
                  </a:txBody>
                  <a:tcPr anchor="ctr">
                    <a:solidFill>
                      <a:srgbClr val="FFFFFF"/>
                    </a:solidFill>
                  </a:tcPr>
                </a:tc>
                <a:tc>
                  <a:txBody>
                    <a:bodyPr/>
                    <a:lstStyle/>
                    <a:p>
                      <a:pPr algn="ctr"/>
                      <a:r>
                        <a:rPr sz="1350" b="0">
                          <a:solidFill>
                            <a:srgbClr val="1A1A1A"/>
                          </a:solidFill>
                          <a:latin typeface="Calibri"/>
                        </a:rPr>
                        <a:t>5.5</a:t>
                      </a:r>
                    </a:p>
                  </a:txBody>
                  <a:tcPr anchor="ctr">
                    <a:solidFill>
                      <a:srgbClr val="FFFFFF"/>
                    </a:solidFill>
                  </a:tcPr>
                </a:tc>
              </a:tr>
              <a:tr h="384048">
                <a:tc>
                  <a:txBody>
                    <a:bodyPr/>
                    <a:lstStyle/>
                    <a:p>
                      <a:pPr algn="l"/>
                      <a:r>
                        <a:rPr sz="1350" b="0">
                          <a:solidFill>
                            <a:srgbClr val="1A1A1A"/>
                          </a:solidFill>
                          <a:latin typeface="Calibri"/>
                        </a:rPr>
                        <a:t>WOA (standard)</a:t>
                      </a:r>
                    </a:p>
                  </a:txBody>
                  <a:tcPr anchor="ctr">
                    <a:solidFill>
                      <a:srgbClr val="F6F8F7"/>
                    </a:solidFill>
                  </a:tcPr>
                </a:tc>
                <a:tc>
                  <a:txBody>
                    <a:bodyPr/>
                    <a:lstStyle/>
                    <a:p>
                      <a:pPr algn="ctr"/>
                      <a:r>
                        <a:rPr sz="1350" b="0">
                          <a:solidFill>
                            <a:srgbClr val="1A1A1A"/>
                          </a:solidFill>
                          <a:latin typeface="Calibri"/>
                        </a:rPr>
                        <a:t>81.5</a:t>
                      </a:r>
                    </a:p>
                  </a:txBody>
                  <a:tcPr anchor="ctr">
                    <a:solidFill>
                      <a:srgbClr val="F6F8F7"/>
                    </a:solidFill>
                  </a:tcPr>
                </a:tc>
                <a:tc>
                  <a:txBody>
                    <a:bodyPr/>
                    <a:lstStyle/>
                    <a:p>
                      <a:pPr algn="ctr"/>
                      <a:r>
                        <a:rPr sz="1350" b="0">
                          <a:solidFill>
                            <a:srgbClr val="1A1A1A"/>
                          </a:solidFill>
                          <a:latin typeface="Calibri"/>
                        </a:rPr>
                        <a:t>0.0</a:t>
                      </a:r>
                    </a:p>
                  </a:txBody>
                  <a:tcPr anchor="ctr">
                    <a:solidFill>
                      <a:srgbClr val="F6F8F7"/>
                    </a:solidFill>
                  </a:tcPr>
                </a:tc>
                <a:tc>
                  <a:txBody>
                    <a:bodyPr/>
                    <a:lstStyle/>
                    <a:p>
                      <a:pPr algn="ctr"/>
                      <a:r>
                        <a:rPr sz="1350" b="0">
                          <a:solidFill>
                            <a:srgbClr val="1A1A1A"/>
                          </a:solidFill>
                          <a:latin typeface="Calibri"/>
                        </a:rPr>
                        <a:t>0.93</a:t>
                      </a:r>
                    </a:p>
                  </a:txBody>
                  <a:tcPr anchor="ctr">
                    <a:solidFill>
                      <a:srgbClr val="F6F8F7"/>
                    </a:solidFill>
                  </a:tcPr>
                </a:tc>
                <a:tc>
                  <a:txBody>
                    <a:bodyPr/>
                    <a:lstStyle/>
                    <a:p>
                      <a:pPr algn="ctr"/>
                      <a:r>
                        <a:rPr sz="1350" b="0">
                          <a:solidFill>
                            <a:srgbClr val="1A1A1A"/>
                          </a:solidFill>
                          <a:latin typeface="Calibri"/>
                        </a:rPr>
                        <a:t>86.7</a:t>
                      </a:r>
                    </a:p>
                  </a:txBody>
                  <a:tcPr anchor="ctr">
                    <a:solidFill>
                      <a:srgbClr val="F6F8F7"/>
                    </a:solidFill>
                  </a:tcPr>
                </a:tc>
                <a:tc>
                  <a:txBody>
                    <a:bodyPr/>
                    <a:lstStyle/>
                    <a:p>
                      <a:pPr algn="ctr"/>
                      <a:r>
                        <a:rPr sz="1350" b="0">
                          <a:solidFill>
                            <a:srgbClr val="1A1A1A"/>
                          </a:solidFill>
                          <a:latin typeface="Calibri"/>
                        </a:rPr>
                        <a:t>2.0</a:t>
                      </a:r>
                    </a:p>
                  </a:txBody>
                  <a:tcPr anchor="ctr">
                    <a:solidFill>
                      <a:srgbClr val="F6F8F7"/>
                    </a:solidFill>
                  </a:tcPr>
                </a:tc>
              </a:tr>
              <a:tr h="384048">
                <a:tc>
                  <a:txBody>
                    <a:bodyPr/>
                    <a:lstStyle/>
                    <a:p>
                      <a:pPr algn="l"/>
                      <a:r>
                        <a:rPr sz="1350" b="0">
                          <a:solidFill>
                            <a:srgbClr val="1A1A1A"/>
                          </a:solidFill>
                          <a:latin typeface="Calibri"/>
                        </a:rPr>
                        <a:t>GWO</a:t>
                      </a:r>
                    </a:p>
                  </a:txBody>
                  <a:tcPr anchor="ctr">
                    <a:solidFill>
                      <a:srgbClr val="FFFFFF"/>
                    </a:solidFill>
                  </a:tcPr>
                </a:tc>
                <a:tc>
                  <a:txBody>
                    <a:bodyPr/>
                    <a:lstStyle/>
                    <a:p>
                      <a:pPr algn="ctr"/>
                      <a:r>
                        <a:rPr sz="1350" b="0">
                          <a:solidFill>
                            <a:srgbClr val="1A1A1A"/>
                          </a:solidFill>
                          <a:latin typeface="Calibri"/>
                        </a:rPr>
                        <a:t>80.91</a:t>
                      </a:r>
                    </a:p>
                  </a:txBody>
                  <a:tcPr anchor="ctr">
                    <a:solidFill>
                      <a:srgbClr val="FFFFFF"/>
                    </a:solidFill>
                  </a:tcPr>
                </a:tc>
                <a:tc>
                  <a:txBody>
                    <a:bodyPr/>
                    <a:lstStyle/>
                    <a:p>
                      <a:pPr algn="ctr"/>
                      <a:r>
                        <a:rPr sz="1350" b="0">
                          <a:solidFill>
                            <a:srgbClr val="1A1A1A"/>
                          </a:solidFill>
                          <a:latin typeface="Calibri"/>
                        </a:rPr>
                        <a:t>0.0</a:t>
                      </a:r>
                    </a:p>
                  </a:txBody>
                  <a:tcPr anchor="ctr">
                    <a:solidFill>
                      <a:srgbClr val="FFFFFF"/>
                    </a:solidFill>
                  </a:tcPr>
                </a:tc>
                <a:tc>
                  <a:txBody>
                    <a:bodyPr/>
                    <a:lstStyle/>
                    <a:p>
                      <a:pPr algn="ctr"/>
                      <a:r>
                        <a:rPr sz="1350" b="0">
                          <a:solidFill>
                            <a:srgbClr val="1A1A1A"/>
                          </a:solidFill>
                          <a:latin typeface="Calibri"/>
                        </a:rPr>
                        <a:t>0.98</a:t>
                      </a:r>
                    </a:p>
                  </a:txBody>
                  <a:tcPr anchor="ctr">
                    <a:solidFill>
                      <a:srgbClr val="FFFFFF"/>
                    </a:solidFill>
                  </a:tcPr>
                </a:tc>
                <a:tc>
                  <a:txBody>
                    <a:bodyPr/>
                    <a:lstStyle/>
                    <a:p>
                      <a:pPr algn="ctr"/>
                      <a:r>
                        <a:rPr sz="1350" b="0">
                          <a:solidFill>
                            <a:srgbClr val="1A1A1A"/>
                          </a:solidFill>
                          <a:latin typeface="Calibri"/>
                        </a:rPr>
                        <a:t>79.0</a:t>
                      </a:r>
                    </a:p>
                  </a:txBody>
                  <a:tcPr anchor="ctr">
                    <a:solidFill>
                      <a:srgbClr val="FFFFFF"/>
                    </a:solidFill>
                  </a:tcPr>
                </a:tc>
                <a:tc>
                  <a:txBody>
                    <a:bodyPr/>
                    <a:lstStyle/>
                    <a:p>
                      <a:pPr algn="ctr"/>
                      <a:r>
                        <a:rPr sz="1350" b="0">
                          <a:solidFill>
                            <a:srgbClr val="1A1A1A"/>
                          </a:solidFill>
                          <a:latin typeface="Calibri"/>
                        </a:rPr>
                        <a:t>4.5</a:t>
                      </a:r>
                    </a:p>
                  </a:txBody>
                  <a:tcPr anchor="ctr">
                    <a:solidFill>
                      <a:srgbClr val="FFFFFF"/>
                    </a:solidFill>
                  </a:tcPr>
                </a:tc>
              </a:tr>
              <a:tr h="384048">
                <a:tc>
                  <a:txBody>
                    <a:bodyPr/>
                    <a:lstStyle/>
                    <a:p>
                      <a:pPr algn="l"/>
                      <a:r>
                        <a:rPr sz="1350" b="0">
                          <a:solidFill>
                            <a:srgbClr val="1A1A1A"/>
                          </a:solidFill>
                          <a:latin typeface="Calibri"/>
                        </a:rPr>
                        <a:t>PSO</a:t>
                      </a:r>
                    </a:p>
                  </a:txBody>
                  <a:tcPr anchor="ctr">
                    <a:solidFill>
                      <a:srgbClr val="F6F8F7"/>
                    </a:solidFill>
                  </a:tcPr>
                </a:tc>
                <a:tc>
                  <a:txBody>
                    <a:bodyPr/>
                    <a:lstStyle/>
                    <a:p>
                      <a:pPr algn="ctr"/>
                      <a:r>
                        <a:rPr sz="1350" b="0">
                          <a:solidFill>
                            <a:srgbClr val="1A1A1A"/>
                          </a:solidFill>
                          <a:latin typeface="Calibri"/>
                        </a:rPr>
                        <a:t>76.65</a:t>
                      </a:r>
                    </a:p>
                  </a:txBody>
                  <a:tcPr anchor="ctr">
                    <a:solidFill>
                      <a:srgbClr val="F6F8F7"/>
                    </a:solidFill>
                  </a:tcPr>
                </a:tc>
                <a:tc>
                  <a:txBody>
                    <a:bodyPr/>
                    <a:lstStyle/>
                    <a:p>
                      <a:pPr algn="ctr"/>
                      <a:r>
                        <a:rPr sz="1350" b="0">
                          <a:solidFill>
                            <a:srgbClr val="1A1A1A"/>
                          </a:solidFill>
                          <a:latin typeface="Calibri"/>
                        </a:rPr>
                        <a:t>18.33</a:t>
                      </a:r>
                    </a:p>
                  </a:txBody>
                  <a:tcPr anchor="ctr">
                    <a:solidFill>
                      <a:srgbClr val="F6F8F7"/>
                    </a:solidFill>
                  </a:tcPr>
                </a:tc>
                <a:tc>
                  <a:txBody>
                    <a:bodyPr/>
                    <a:lstStyle/>
                    <a:p>
                      <a:pPr algn="ctr"/>
                      <a:r>
                        <a:rPr sz="1350" b="0">
                          <a:solidFill>
                            <a:srgbClr val="1A1A1A"/>
                          </a:solidFill>
                          <a:latin typeface="Calibri"/>
                        </a:rPr>
                        <a:t>1.32</a:t>
                      </a:r>
                    </a:p>
                  </a:txBody>
                  <a:tcPr anchor="ctr">
                    <a:solidFill>
                      <a:srgbClr val="F6F8F7"/>
                    </a:solidFill>
                  </a:tcPr>
                </a:tc>
                <a:tc>
                  <a:txBody>
                    <a:bodyPr/>
                    <a:lstStyle/>
                    <a:p>
                      <a:pPr algn="ctr"/>
                      <a:r>
                        <a:rPr sz="1350" b="0">
                          <a:solidFill>
                            <a:srgbClr val="1A1A1A"/>
                          </a:solidFill>
                          <a:latin typeface="Calibri"/>
                        </a:rPr>
                        <a:t>46.2</a:t>
                      </a:r>
                    </a:p>
                  </a:txBody>
                  <a:tcPr anchor="ctr">
                    <a:solidFill>
                      <a:srgbClr val="F6F8F7"/>
                    </a:solidFill>
                  </a:tcPr>
                </a:tc>
                <a:tc>
                  <a:txBody>
                    <a:bodyPr/>
                    <a:lstStyle/>
                    <a:p>
                      <a:pPr algn="ctr"/>
                      <a:r>
                        <a:rPr sz="1350" b="0">
                          <a:solidFill>
                            <a:srgbClr val="1A1A1A"/>
                          </a:solidFill>
                          <a:latin typeface="Calibri"/>
                        </a:rPr>
                        <a:t>9.7</a:t>
                      </a:r>
                    </a:p>
                  </a:txBody>
                  <a:tcPr anchor="ctr">
                    <a:solidFill>
                      <a:srgbClr val="F6F8F7"/>
                    </a:solidFill>
                  </a:tcPr>
                </a:tc>
              </a:tr>
              <a:tr h="384048">
                <a:tc>
                  <a:txBody>
                    <a:bodyPr/>
                    <a:lstStyle/>
                    <a:p>
                      <a:pPr algn="l"/>
                      <a:r>
                        <a:rPr sz="1350" b="0">
                          <a:solidFill>
                            <a:srgbClr val="1A1A1A"/>
                          </a:solidFill>
                          <a:latin typeface="Calibri"/>
                        </a:rPr>
                        <a:t>DE</a:t>
                      </a:r>
                    </a:p>
                  </a:txBody>
                  <a:tcPr anchor="ctr">
                    <a:solidFill>
                      <a:srgbClr val="FFFFFF"/>
                    </a:solidFill>
                  </a:tcPr>
                </a:tc>
                <a:tc>
                  <a:txBody>
                    <a:bodyPr/>
                    <a:lstStyle/>
                    <a:p>
                      <a:pPr algn="ctr"/>
                      <a:r>
                        <a:rPr sz="1350" b="0">
                          <a:solidFill>
                            <a:srgbClr val="1A1A1A"/>
                          </a:solidFill>
                          <a:latin typeface="Calibri"/>
                        </a:rPr>
                        <a:t>76.55</a:t>
                      </a:r>
                    </a:p>
                  </a:txBody>
                  <a:tcPr anchor="ctr">
                    <a:solidFill>
                      <a:srgbClr val="FFFFFF"/>
                    </a:solidFill>
                  </a:tcPr>
                </a:tc>
                <a:tc>
                  <a:txBody>
                    <a:bodyPr/>
                    <a:lstStyle/>
                    <a:p>
                      <a:pPr algn="ctr"/>
                      <a:r>
                        <a:rPr sz="1350" b="0">
                          <a:solidFill>
                            <a:srgbClr val="1A1A1A"/>
                          </a:solidFill>
                          <a:latin typeface="Calibri"/>
                        </a:rPr>
                        <a:t>20.56</a:t>
                      </a:r>
                    </a:p>
                  </a:txBody>
                  <a:tcPr anchor="ctr">
                    <a:solidFill>
                      <a:srgbClr val="FFFFFF"/>
                    </a:solidFill>
                  </a:tcPr>
                </a:tc>
                <a:tc>
                  <a:txBody>
                    <a:bodyPr/>
                    <a:lstStyle/>
                    <a:p>
                      <a:pPr algn="ctr"/>
                      <a:r>
                        <a:rPr sz="1350" b="0">
                          <a:solidFill>
                            <a:srgbClr val="1A1A1A"/>
                          </a:solidFill>
                          <a:latin typeface="Calibri"/>
                        </a:rPr>
                        <a:t>1.37</a:t>
                      </a:r>
                    </a:p>
                  </a:txBody>
                  <a:tcPr anchor="ctr">
                    <a:solidFill>
                      <a:srgbClr val="FFFFFF"/>
                    </a:solidFill>
                  </a:tcPr>
                </a:tc>
                <a:tc>
                  <a:txBody>
                    <a:bodyPr/>
                    <a:lstStyle/>
                    <a:p>
                      <a:pPr algn="ctr"/>
                      <a:r>
                        <a:rPr sz="1350" b="0">
                          <a:solidFill>
                            <a:srgbClr val="1A1A1A"/>
                          </a:solidFill>
                          <a:latin typeface="Calibri"/>
                        </a:rPr>
                        <a:t>43.1</a:t>
                      </a:r>
                    </a:p>
                  </a:txBody>
                  <a:tcPr anchor="ctr">
                    <a:solidFill>
                      <a:srgbClr val="FFFFFF"/>
                    </a:solidFill>
                  </a:tcPr>
                </a:tc>
                <a:tc>
                  <a:txBody>
                    <a:bodyPr/>
                    <a:lstStyle/>
                    <a:p>
                      <a:pPr algn="ctr"/>
                      <a:r>
                        <a:rPr sz="1350" b="0">
                          <a:solidFill>
                            <a:srgbClr val="1A1A1A"/>
                          </a:solidFill>
                          <a:latin typeface="Calibri"/>
                        </a:rPr>
                        <a:t>12.3</a:t>
                      </a:r>
                    </a:p>
                  </a:txBody>
                  <a:tcPr anchor="ctr">
                    <a:solidFill>
                      <a:srgbClr val="FFFFFF"/>
                    </a:solidFill>
                  </a:tcPr>
                </a:tc>
              </a:tr>
              <a:tr h="384048">
                <a:tc>
                  <a:txBody>
                    <a:bodyPr/>
                    <a:lstStyle/>
                    <a:p>
                      <a:pPr algn="l"/>
                      <a:r>
                        <a:rPr sz="1350" b="0">
                          <a:solidFill>
                            <a:srgbClr val="1A1A1A"/>
                          </a:solidFill>
                          <a:latin typeface="Calibri"/>
                        </a:rPr>
                        <a:t>HHO</a:t>
                      </a:r>
                    </a:p>
                  </a:txBody>
                  <a:tcPr anchor="ctr">
                    <a:solidFill>
                      <a:srgbClr val="F6F8F7"/>
                    </a:solidFill>
                  </a:tcPr>
                </a:tc>
                <a:tc>
                  <a:txBody>
                    <a:bodyPr/>
                    <a:lstStyle/>
                    <a:p>
                      <a:pPr algn="ctr"/>
                      <a:r>
                        <a:rPr sz="1350" b="0">
                          <a:solidFill>
                            <a:srgbClr val="1A1A1A"/>
                          </a:solidFill>
                          <a:latin typeface="Calibri"/>
                        </a:rPr>
                        <a:t>82.27</a:t>
                      </a:r>
                    </a:p>
                  </a:txBody>
                  <a:tcPr anchor="ctr">
                    <a:solidFill>
                      <a:srgbClr val="F6F8F7"/>
                    </a:solidFill>
                  </a:tcPr>
                </a:tc>
                <a:tc>
                  <a:txBody>
                    <a:bodyPr/>
                    <a:lstStyle/>
                    <a:p>
                      <a:pPr algn="ctr"/>
                      <a:r>
                        <a:rPr sz="1350" b="0">
                          <a:solidFill>
                            <a:srgbClr val="1A1A1A"/>
                          </a:solidFill>
                          <a:latin typeface="Calibri"/>
                        </a:rPr>
                        <a:t>0.0</a:t>
                      </a:r>
                    </a:p>
                  </a:txBody>
                  <a:tcPr anchor="ctr">
                    <a:solidFill>
                      <a:srgbClr val="F6F8F7"/>
                    </a:solidFill>
                  </a:tcPr>
                </a:tc>
                <a:tc>
                  <a:txBody>
                    <a:bodyPr/>
                    <a:lstStyle/>
                    <a:p>
                      <a:pPr algn="ctr"/>
                      <a:r>
                        <a:rPr sz="1350" b="0">
                          <a:solidFill>
                            <a:srgbClr val="1A1A1A"/>
                          </a:solidFill>
                          <a:latin typeface="Calibri"/>
                        </a:rPr>
                        <a:t>0.95</a:t>
                      </a:r>
                    </a:p>
                  </a:txBody>
                  <a:tcPr anchor="ctr">
                    <a:solidFill>
                      <a:srgbClr val="F6F8F7"/>
                    </a:solidFill>
                  </a:tcPr>
                </a:tc>
                <a:tc>
                  <a:txBody>
                    <a:bodyPr/>
                    <a:lstStyle/>
                    <a:p>
                      <a:pPr algn="ctr"/>
                      <a:r>
                        <a:rPr sz="1350" b="0">
                          <a:solidFill>
                            <a:srgbClr val="1A1A1A"/>
                          </a:solidFill>
                          <a:latin typeface="Calibri"/>
                        </a:rPr>
                        <a:t>83.1</a:t>
                      </a:r>
                    </a:p>
                  </a:txBody>
                  <a:tcPr anchor="ctr">
                    <a:solidFill>
                      <a:srgbClr val="F6F8F7"/>
                    </a:solidFill>
                  </a:tcPr>
                </a:tc>
                <a:tc>
                  <a:txBody>
                    <a:bodyPr/>
                    <a:lstStyle/>
                    <a:p>
                      <a:pPr algn="ctr"/>
                      <a:r>
                        <a:rPr sz="1350" b="0">
                          <a:solidFill>
                            <a:srgbClr val="1A1A1A"/>
                          </a:solidFill>
                          <a:latin typeface="Calibri"/>
                        </a:rPr>
                        <a:t>4.5</a:t>
                      </a:r>
                    </a:p>
                  </a:txBody>
                  <a:tcPr anchor="ctr">
                    <a:solidFill>
                      <a:srgbClr val="F6F8F7"/>
                    </a:solidFill>
                  </a:tcPr>
                </a:tc>
              </a:tr>
              <a:tr h="384048">
                <a:tc>
                  <a:txBody>
                    <a:bodyPr/>
                    <a:lstStyle/>
                    <a:p>
                      <a:pPr algn="l"/>
                      <a:r>
                        <a:rPr sz="1350" b="0">
                          <a:solidFill>
                            <a:srgbClr val="1A1A1A"/>
                          </a:solidFill>
                          <a:latin typeface="Calibri"/>
                        </a:rPr>
                        <a:t>GA</a:t>
                      </a:r>
                    </a:p>
                  </a:txBody>
                  <a:tcPr anchor="ctr">
                    <a:solidFill>
                      <a:srgbClr val="FFFFFF"/>
                    </a:solidFill>
                  </a:tcPr>
                </a:tc>
                <a:tc>
                  <a:txBody>
                    <a:bodyPr/>
                    <a:lstStyle/>
                    <a:p>
                      <a:pPr algn="ctr"/>
                      <a:r>
                        <a:rPr sz="1350" b="0">
                          <a:solidFill>
                            <a:srgbClr val="1A1A1A"/>
                          </a:solidFill>
                          <a:latin typeface="Calibri"/>
                        </a:rPr>
                        <a:t>71.03</a:t>
                      </a:r>
                    </a:p>
                  </a:txBody>
                  <a:tcPr anchor="ctr">
                    <a:solidFill>
                      <a:srgbClr val="FFFFFF"/>
                    </a:solidFill>
                  </a:tcPr>
                </a:tc>
                <a:tc>
                  <a:txBody>
                    <a:bodyPr/>
                    <a:lstStyle/>
                    <a:p>
                      <a:pPr algn="ctr"/>
                      <a:r>
                        <a:rPr sz="1350" b="0">
                          <a:solidFill>
                            <a:srgbClr val="1A1A1A"/>
                          </a:solidFill>
                          <a:latin typeface="Calibri"/>
                        </a:rPr>
                        <a:t>48.33</a:t>
                      </a:r>
                    </a:p>
                  </a:txBody>
                  <a:tcPr anchor="ctr">
                    <a:solidFill>
                      <a:srgbClr val="FFFFFF"/>
                    </a:solidFill>
                  </a:tcPr>
                </a:tc>
                <a:tc>
                  <a:txBody>
                    <a:bodyPr/>
                    <a:lstStyle/>
                    <a:p>
                      <a:pPr algn="ctr"/>
                      <a:r>
                        <a:rPr sz="1350" b="0">
                          <a:solidFill>
                            <a:srgbClr val="1A1A1A"/>
                          </a:solidFill>
                          <a:latin typeface="Calibri"/>
                        </a:rPr>
                        <a:t>1.77</a:t>
                      </a:r>
                    </a:p>
                  </a:txBody>
                  <a:tcPr anchor="ctr">
                    <a:solidFill>
                      <a:srgbClr val="FFFFFF"/>
                    </a:solidFill>
                  </a:tcPr>
                </a:tc>
                <a:tc>
                  <a:txBody>
                    <a:bodyPr/>
                    <a:lstStyle/>
                    <a:p>
                      <a:pPr algn="ctr"/>
                      <a:r>
                        <a:rPr sz="1350" b="0">
                          <a:solidFill>
                            <a:srgbClr val="1A1A1A"/>
                          </a:solidFill>
                          <a:latin typeface="Calibri"/>
                        </a:rPr>
                        <a:t>28.9</a:t>
                      </a:r>
                    </a:p>
                  </a:txBody>
                  <a:tcPr anchor="ctr">
                    <a:solidFill>
                      <a:srgbClr val="FFFFFF"/>
                    </a:solidFill>
                  </a:tcPr>
                </a:tc>
                <a:tc>
                  <a:txBody>
                    <a:bodyPr/>
                    <a:lstStyle/>
                    <a:p>
                      <a:pPr algn="ctr"/>
                      <a:r>
                        <a:rPr sz="1350" b="0">
                          <a:solidFill>
                            <a:srgbClr val="1A1A1A"/>
                          </a:solidFill>
                          <a:latin typeface="Calibri"/>
                        </a:rPr>
                        <a:t>12.8</a:t>
                      </a:r>
                    </a:p>
                  </a:txBody>
                  <a:tcPr anchor="ctr">
                    <a:solidFill>
                      <a:srgbClr val="FFFFFF"/>
                    </a:solidFill>
                  </a:tcPr>
                </a:tc>
              </a:tr>
              <a:tr h="384048">
                <a:tc>
                  <a:txBody>
                    <a:bodyPr/>
                    <a:lstStyle/>
                    <a:p>
                      <a:pPr algn="l"/>
                      <a:r>
                        <a:rPr sz="1350" b="1">
                          <a:solidFill>
                            <a:srgbClr val="2E8B57"/>
                          </a:solidFill>
                          <a:latin typeface="Calibri"/>
                        </a:rPr>
                        <a:t>CA-WOA  (proposed)</a:t>
                      </a:r>
                    </a:p>
                  </a:txBody>
                  <a:tcPr anchor="ctr">
                    <a:solidFill>
                      <a:srgbClr val="E8F2EE"/>
                    </a:solidFill>
                  </a:tcPr>
                </a:tc>
                <a:tc>
                  <a:txBody>
                    <a:bodyPr/>
                    <a:lstStyle/>
                    <a:p>
                      <a:pPr algn="ctr"/>
                      <a:r>
                        <a:rPr sz="1350" b="1">
                          <a:solidFill>
                            <a:srgbClr val="2E8B57"/>
                          </a:solidFill>
                          <a:latin typeface="Calibri"/>
                        </a:rPr>
                        <a:t>83.25</a:t>
                      </a:r>
                    </a:p>
                  </a:txBody>
                  <a:tcPr anchor="ctr">
                    <a:solidFill>
                      <a:srgbClr val="E8F2EE"/>
                    </a:solidFill>
                  </a:tcPr>
                </a:tc>
                <a:tc>
                  <a:txBody>
                    <a:bodyPr/>
                    <a:lstStyle/>
                    <a:p>
                      <a:pPr algn="ctr"/>
                      <a:r>
                        <a:rPr sz="1350" b="1">
                          <a:solidFill>
                            <a:srgbClr val="2E8B57"/>
                          </a:solidFill>
                          <a:latin typeface="Calibri"/>
                        </a:rPr>
                        <a:t>0.0</a:t>
                      </a:r>
                    </a:p>
                  </a:txBody>
                  <a:tcPr anchor="ctr">
                    <a:solidFill>
                      <a:srgbClr val="E8F2EE"/>
                    </a:solidFill>
                  </a:tcPr>
                </a:tc>
                <a:tc>
                  <a:txBody>
                    <a:bodyPr/>
                    <a:lstStyle/>
                    <a:p>
                      <a:pPr algn="ctr"/>
                      <a:r>
                        <a:rPr sz="1350" b="1">
                          <a:solidFill>
                            <a:srgbClr val="2E8B57"/>
                          </a:solidFill>
                          <a:latin typeface="Calibri"/>
                        </a:rPr>
                        <a:t>0.93</a:t>
                      </a:r>
                    </a:p>
                  </a:txBody>
                  <a:tcPr anchor="ctr">
                    <a:solidFill>
                      <a:srgbClr val="E8F2EE"/>
                    </a:solidFill>
                  </a:tcPr>
                </a:tc>
                <a:tc>
                  <a:txBody>
                    <a:bodyPr/>
                    <a:lstStyle/>
                    <a:p>
                      <a:pPr algn="ctr"/>
                      <a:r>
                        <a:rPr sz="1350" b="1">
                          <a:solidFill>
                            <a:srgbClr val="2E8B57"/>
                          </a:solidFill>
                          <a:latin typeface="Calibri"/>
                        </a:rPr>
                        <a:t>84.0</a:t>
                      </a:r>
                    </a:p>
                  </a:txBody>
                  <a:tcPr anchor="ctr">
                    <a:solidFill>
                      <a:srgbClr val="E8F2EE"/>
                    </a:solidFill>
                  </a:tcPr>
                </a:tc>
                <a:tc>
                  <a:txBody>
                    <a:bodyPr/>
                    <a:lstStyle/>
                    <a:p>
                      <a:pPr algn="ctr"/>
                      <a:r>
                        <a:rPr sz="1350" b="1">
                          <a:solidFill>
                            <a:srgbClr val="2E8B57"/>
                          </a:solidFill>
                          <a:latin typeface="Calibri"/>
                        </a:rPr>
                        <a:t>5.3</a:t>
                      </a:r>
                    </a:p>
                  </a:txBody>
                  <a:tcPr anchor="ctr">
                    <a:solidFill>
                      <a:srgbClr val="E8F2EE"/>
                    </a:solidFill>
                  </a:tcPr>
                </a:tc>
              </a:tr>
            </a:tbl>
          </a:graphicData>
        </a:graphic>
      </p:graphicFrame>
      <p:sp>
        <p:nvSpPr>
          <p:cNvPr id="7" name="TextBox 6"/>
          <p:cNvSpPr txBox="1"/>
          <p:nvPr/>
        </p:nvSpPr>
        <p:spPr>
          <a:xfrm>
            <a:off x="640080" y="5806440"/>
            <a:ext cx="10911535" cy="822960"/>
          </a:xfrm>
          <a:prstGeom prst="rect">
            <a:avLst/>
          </a:prstGeom>
          <a:noFill/>
        </p:spPr>
        <p:txBody>
          <a:bodyPr wrap="square">
            <a:spAutoFit/>
          </a:bodyPr>
          <a:lstStyle/>
          <a:p>
            <a:pPr algn="l">
              <a:spcAft>
                <a:spcPts val="0"/>
              </a:spcAft>
            </a:pPr>
            <a:r>
              <a:rPr sz="1400" b="0" i="1">
                <a:solidFill>
                  <a:srgbClr val="C87A1E"/>
                </a:solidFill>
                <a:latin typeface="Calibri"/>
              </a:rPr>
              <a:t>Best carbon AND joint-best SLA — no trade-off between the two. Honest caveats: only +0.69 pts over simple greedy, and makespan stretches 2.0 h → 5.3 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Isolating the temporal effect</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Pure time-shifting model — energy held constant at 5.033 kWh</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14</a:t>
            </a:r>
          </a:p>
        </p:txBody>
      </p:sp>
      <p:graphicFrame>
        <p:nvGraphicFramePr>
          <p:cNvPr id="6" name="Table 5"/>
          <p:cNvGraphicFramePr>
            <a:graphicFrameLocks noGrp="1"/>
          </p:cNvGraphicFramePr>
          <p:nvPr/>
        </p:nvGraphicFramePr>
        <p:xfrm>
          <a:off x="640080" y="1572768"/>
          <a:ext cx="10911532" cy="3456432"/>
        </p:xfrm>
        <a:graphic>
          <a:graphicData uri="http://schemas.openxmlformats.org/drawingml/2006/table">
            <a:tbl>
              <a:tblPr firstRow="1" bandRow="1">
                <a:tableStyleId>{5C22544A-7EE6-4342-B048-85BDC9FD1C3A}</a:tableStyleId>
              </a:tblPr>
              <a:tblGrid>
                <a:gridCol w="4232352"/>
                <a:gridCol w="1587132"/>
                <a:gridCol w="1785523"/>
                <a:gridCol w="1587132"/>
                <a:gridCol w="1719393"/>
              </a:tblGrid>
              <a:tr h="384048">
                <a:tc>
                  <a:txBody>
                    <a:bodyPr/>
                    <a:lstStyle/>
                    <a:p>
                      <a:pPr algn="l"/>
                      <a:r>
                        <a:rPr sz="1300" b="1">
                          <a:solidFill>
                            <a:srgbClr val="FFFFFF"/>
                          </a:solidFill>
                          <a:latin typeface="Calibri"/>
                        </a:rPr>
                        <a:t>Method</a:t>
                      </a:r>
                    </a:p>
                  </a:txBody>
                  <a:tcPr anchor="ctr">
                    <a:solidFill>
                      <a:srgbClr val="103D38"/>
                    </a:solidFill>
                  </a:tcPr>
                </a:tc>
                <a:tc>
                  <a:txBody>
                    <a:bodyPr/>
                    <a:lstStyle/>
                    <a:p>
                      <a:pPr algn="ctr"/>
                      <a:r>
                        <a:rPr sz="1300" b="1">
                          <a:solidFill>
                            <a:srgbClr val="FFFFFF"/>
                          </a:solidFill>
                          <a:latin typeface="Calibri"/>
                        </a:rPr>
                        <a:t>Energy kWh</a:t>
                      </a:r>
                    </a:p>
                  </a:txBody>
                  <a:tcPr anchor="ctr">
                    <a:solidFill>
                      <a:srgbClr val="103D38"/>
                    </a:solidFill>
                  </a:tcPr>
                </a:tc>
                <a:tc>
                  <a:txBody>
                    <a:bodyPr/>
                    <a:lstStyle/>
                    <a:p>
                      <a:pPr algn="ctr"/>
                      <a:r>
                        <a:rPr sz="1300" b="1">
                          <a:solidFill>
                            <a:srgbClr val="FFFFFF"/>
                          </a:solidFill>
                          <a:latin typeface="Calibri"/>
                        </a:rPr>
                        <a:t>Carbon kgCO₂</a:t>
                      </a:r>
                    </a:p>
                  </a:txBody>
                  <a:tcPr anchor="ctr">
                    <a:solidFill>
                      <a:srgbClr val="103D38"/>
                    </a:solidFill>
                  </a:tcPr>
                </a:tc>
                <a:tc>
                  <a:txBody>
                    <a:bodyPr/>
                    <a:lstStyle/>
                    <a:p>
                      <a:pPr algn="ctr"/>
                      <a:r>
                        <a:rPr sz="1300" b="1">
                          <a:solidFill>
                            <a:srgbClr val="FFFFFF"/>
                          </a:solidFill>
                          <a:latin typeface="Calibri"/>
                        </a:rPr>
                        <a:t>Carbon ↓ %</a:t>
                      </a:r>
                    </a:p>
                  </a:txBody>
                  <a:tcPr anchor="ctr">
                    <a:solidFill>
                      <a:srgbClr val="103D38"/>
                    </a:solidFill>
                  </a:tcPr>
                </a:tc>
                <a:tc>
                  <a:txBody>
                    <a:bodyPr/>
                    <a:lstStyle/>
                    <a:p>
                      <a:pPr algn="ctr"/>
                      <a:r>
                        <a:rPr sz="1300" b="1">
                          <a:solidFill>
                            <a:srgbClr val="FFFFFF"/>
                          </a:solidFill>
                          <a:latin typeface="Calibri"/>
                        </a:rPr>
                        <a:t>SLA viol. %</a:t>
                      </a:r>
                    </a:p>
                  </a:txBody>
                  <a:tcPr anchor="ctr">
                    <a:solidFill>
                      <a:srgbClr val="103D38"/>
                    </a:solidFill>
                  </a:tcPr>
                </a:tc>
              </a:tr>
              <a:tr h="384048">
                <a:tc>
                  <a:txBody>
                    <a:bodyPr/>
                    <a:lstStyle/>
                    <a:p>
                      <a:pPr algn="l"/>
                      <a:r>
                        <a:rPr sz="1400" b="0">
                          <a:solidFill>
                            <a:srgbClr val="1A1A1A"/>
                          </a:solidFill>
                          <a:latin typeface="Calibri"/>
                        </a:rPr>
                        <a:t>FIFO / Round-Robin (baseline)</a:t>
                      </a:r>
                    </a:p>
                  </a:txBody>
                  <a:tcPr anchor="ctr">
                    <a:solidFill>
                      <a:srgbClr val="FFFFFF"/>
                    </a:solidFill>
                  </a:tcPr>
                </a:tc>
                <a:tc>
                  <a:txBody>
                    <a:bodyPr/>
                    <a:lstStyle/>
                    <a:p>
                      <a:pPr algn="ctr"/>
                      <a:r>
                        <a:rPr sz="1400" b="0">
                          <a:solidFill>
                            <a:srgbClr val="1A1A1A"/>
                          </a:solidFill>
                          <a:latin typeface="Calibri"/>
                        </a:rPr>
                        <a:t>5.033</a:t>
                      </a:r>
                    </a:p>
                  </a:txBody>
                  <a:tcPr anchor="ctr">
                    <a:solidFill>
                      <a:srgbClr val="FFFFFF"/>
                    </a:solidFill>
                  </a:tcPr>
                </a:tc>
                <a:tc>
                  <a:txBody>
                    <a:bodyPr/>
                    <a:lstStyle/>
                    <a:p>
                      <a:pPr algn="ctr"/>
                      <a:r>
                        <a:rPr sz="1400" b="0">
                          <a:solidFill>
                            <a:srgbClr val="1A1A1A"/>
                          </a:solidFill>
                          <a:latin typeface="Calibri"/>
                        </a:rPr>
                        <a:t>0.507</a:t>
                      </a:r>
                    </a:p>
                  </a:txBody>
                  <a:tcPr anchor="ctr">
                    <a:solidFill>
                      <a:srgbClr val="FFFFFF"/>
                    </a:solidFill>
                  </a:tcPr>
                </a:tc>
                <a:tc>
                  <a:txBody>
                    <a:bodyPr/>
                    <a:lstStyle/>
                    <a:p>
                      <a:pPr algn="ctr"/>
                      <a:r>
                        <a:rPr sz="1400" b="0">
                          <a:solidFill>
                            <a:srgbClr val="1A1A1A"/>
                          </a:solidFill>
                          <a:latin typeface="Calibri"/>
                        </a:rPr>
                        <a:t>0.0</a:t>
                      </a:r>
                    </a:p>
                  </a:txBody>
                  <a:tcPr anchor="ctr">
                    <a:solidFill>
                      <a:srgbClr val="FFFFFF"/>
                    </a:solidFill>
                  </a:tcPr>
                </a:tc>
                <a:tc>
                  <a:txBody>
                    <a:bodyPr/>
                    <a:lstStyle/>
                    <a:p>
                      <a:pPr algn="ctr"/>
                      <a:r>
                        <a:rPr sz="1400" b="0">
                          <a:solidFill>
                            <a:srgbClr val="1A1A1A"/>
                          </a:solidFill>
                          <a:latin typeface="Calibri"/>
                        </a:rPr>
                        <a:t>0.0</a:t>
                      </a:r>
                    </a:p>
                  </a:txBody>
                  <a:tcPr anchor="ctr">
                    <a:solidFill>
                      <a:srgbClr val="FFFFFF"/>
                    </a:solidFill>
                  </a:tcPr>
                </a:tc>
              </a:tr>
              <a:tr h="384048">
                <a:tc>
                  <a:txBody>
                    <a:bodyPr/>
                    <a:lstStyle/>
                    <a:p>
                      <a:pPr algn="l"/>
                      <a:r>
                        <a:rPr sz="1400" b="1">
                          <a:solidFill>
                            <a:srgbClr val="2E8B57"/>
                          </a:solidFill>
                          <a:latin typeface="Calibri"/>
                        </a:rPr>
                        <a:t>CA-WOA  (proposed)</a:t>
                      </a:r>
                    </a:p>
                  </a:txBody>
                  <a:tcPr anchor="ctr">
                    <a:solidFill>
                      <a:srgbClr val="E8F2EE"/>
                    </a:solidFill>
                  </a:tcPr>
                </a:tc>
                <a:tc>
                  <a:txBody>
                    <a:bodyPr/>
                    <a:lstStyle/>
                    <a:p>
                      <a:pPr algn="ctr"/>
                      <a:r>
                        <a:rPr sz="1400" b="1">
                          <a:solidFill>
                            <a:srgbClr val="2E8B57"/>
                          </a:solidFill>
                          <a:latin typeface="Calibri"/>
                        </a:rPr>
                        <a:t>5.033</a:t>
                      </a:r>
                    </a:p>
                  </a:txBody>
                  <a:tcPr anchor="ctr">
                    <a:solidFill>
                      <a:srgbClr val="E8F2EE"/>
                    </a:solidFill>
                  </a:tcPr>
                </a:tc>
                <a:tc>
                  <a:txBody>
                    <a:bodyPr/>
                    <a:lstStyle/>
                    <a:p>
                      <a:pPr algn="ctr"/>
                      <a:r>
                        <a:rPr sz="1400" b="1">
                          <a:solidFill>
                            <a:srgbClr val="2E8B57"/>
                          </a:solidFill>
                          <a:latin typeface="Calibri"/>
                        </a:rPr>
                        <a:t>0.450</a:t>
                      </a:r>
                    </a:p>
                  </a:txBody>
                  <a:tcPr anchor="ctr">
                    <a:solidFill>
                      <a:srgbClr val="E8F2EE"/>
                    </a:solidFill>
                  </a:tcPr>
                </a:tc>
                <a:tc>
                  <a:txBody>
                    <a:bodyPr/>
                    <a:lstStyle/>
                    <a:p>
                      <a:pPr algn="ctr"/>
                      <a:r>
                        <a:rPr sz="1400" b="1">
                          <a:solidFill>
                            <a:srgbClr val="2E8B57"/>
                          </a:solidFill>
                          <a:latin typeface="Calibri"/>
                        </a:rPr>
                        <a:t>11.3</a:t>
                      </a:r>
                    </a:p>
                  </a:txBody>
                  <a:tcPr anchor="ctr">
                    <a:solidFill>
                      <a:srgbClr val="E8F2EE"/>
                    </a:solidFill>
                  </a:tcPr>
                </a:tc>
                <a:tc>
                  <a:txBody>
                    <a:bodyPr/>
                    <a:lstStyle/>
                    <a:p>
                      <a:pPr algn="ctr"/>
                      <a:r>
                        <a:rPr sz="1400" b="1">
                          <a:solidFill>
                            <a:srgbClr val="2E8B57"/>
                          </a:solidFill>
                          <a:latin typeface="Calibri"/>
                        </a:rPr>
                        <a:t>0.0</a:t>
                      </a:r>
                    </a:p>
                  </a:txBody>
                  <a:tcPr anchor="ctr">
                    <a:solidFill>
                      <a:srgbClr val="E8F2EE"/>
                    </a:solidFill>
                  </a:tcPr>
                </a:tc>
              </a:tr>
              <a:tr h="384048">
                <a:tc>
                  <a:txBody>
                    <a:bodyPr/>
                    <a:lstStyle/>
                    <a:p>
                      <a:pPr algn="l"/>
                      <a:r>
                        <a:rPr sz="1400" b="0">
                          <a:solidFill>
                            <a:srgbClr val="1A1A1A"/>
                          </a:solidFill>
                          <a:latin typeface="Calibri"/>
                        </a:rPr>
                        <a:t>WOA (standard, random init)</a:t>
                      </a:r>
                    </a:p>
                  </a:txBody>
                  <a:tcPr anchor="ctr">
                    <a:solidFill>
                      <a:srgbClr val="FFFFFF"/>
                    </a:solidFill>
                  </a:tcPr>
                </a:tc>
                <a:tc>
                  <a:txBody>
                    <a:bodyPr/>
                    <a:lstStyle/>
                    <a:p>
                      <a:pPr algn="ctr"/>
                      <a:r>
                        <a:rPr sz="1400" b="0">
                          <a:solidFill>
                            <a:srgbClr val="1A1A1A"/>
                          </a:solidFill>
                          <a:latin typeface="Calibri"/>
                        </a:rPr>
                        <a:t>5.033</a:t>
                      </a:r>
                    </a:p>
                  </a:txBody>
                  <a:tcPr anchor="ctr">
                    <a:solidFill>
                      <a:srgbClr val="FFFFFF"/>
                    </a:solidFill>
                  </a:tcPr>
                </a:tc>
                <a:tc>
                  <a:txBody>
                    <a:bodyPr/>
                    <a:lstStyle/>
                    <a:p>
                      <a:pPr algn="ctr"/>
                      <a:r>
                        <a:rPr sz="1400" b="0">
                          <a:solidFill>
                            <a:srgbClr val="1A1A1A"/>
                          </a:solidFill>
                          <a:latin typeface="Calibri"/>
                        </a:rPr>
                        <a:t>0.501</a:t>
                      </a:r>
                    </a:p>
                  </a:txBody>
                  <a:tcPr anchor="ctr">
                    <a:solidFill>
                      <a:srgbClr val="FFFFFF"/>
                    </a:solidFill>
                  </a:tcPr>
                </a:tc>
                <a:tc>
                  <a:txBody>
                    <a:bodyPr/>
                    <a:lstStyle/>
                    <a:p>
                      <a:pPr algn="ctr"/>
                      <a:r>
                        <a:rPr sz="1400" b="0">
                          <a:solidFill>
                            <a:srgbClr val="1A1A1A"/>
                          </a:solidFill>
                          <a:latin typeface="Calibri"/>
                        </a:rPr>
                        <a:t>1.2</a:t>
                      </a:r>
                    </a:p>
                  </a:txBody>
                  <a:tcPr anchor="ctr">
                    <a:solidFill>
                      <a:srgbClr val="FFFFFF"/>
                    </a:solidFill>
                  </a:tcPr>
                </a:tc>
                <a:tc>
                  <a:txBody>
                    <a:bodyPr/>
                    <a:lstStyle/>
                    <a:p>
                      <a:pPr algn="ctr"/>
                      <a:r>
                        <a:rPr sz="1400" b="0">
                          <a:solidFill>
                            <a:srgbClr val="1A1A1A"/>
                          </a:solidFill>
                          <a:latin typeface="Calibri"/>
                        </a:rPr>
                        <a:t>0.0</a:t>
                      </a:r>
                    </a:p>
                  </a:txBody>
                  <a:tcPr anchor="ctr">
                    <a:solidFill>
                      <a:srgbClr val="FFFFFF"/>
                    </a:solidFill>
                  </a:tcPr>
                </a:tc>
              </a:tr>
              <a:tr h="384048">
                <a:tc>
                  <a:txBody>
                    <a:bodyPr/>
                    <a:lstStyle/>
                    <a:p>
                      <a:pPr algn="l"/>
                      <a:r>
                        <a:rPr sz="1400" b="0">
                          <a:solidFill>
                            <a:srgbClr val="1A1A1A"/>
                          </a:solidFill>
                          <a:latin typeface="Calibri"/>
                        </a:rPr>
                        <a:t>HHO</a:t>
                      </a:r>
                    </a:p>
                  </a:txBody>
                  <a:tcPr anchor="ctr">
                    <a:solidFill>
                      <a:srgbClr val="F6F8F7"/>
                    </a:solidFill>
                  </a:tcPr>
                </a:tc>
                <a:tc>
                  <a:txBody>
                    <a:bodyPr/>
                    <a:lstStyle/>
                    <a:p>
                      <a:pPr algn="ctr"/>
                      <a:r>
                        <a:rPr sz="1400" b="0">
                          <a:solidFill>
                            <a:srgbClr val="1A1A1A"/>
                          </a:solidFill>
                          <a:latin typeface="Calibri"/>
                        </a:rPr>
                        <a:t>5.033</a:t>
                      </a:r>
                    </a:p>
                  </a:txBody>
                  <a:tcPr anchor="ctr">
                    <a:solidFill>
                      <a:srgbClr val="F6F8F7"/>
                    </a:solidFill>
                  </a:tcPr>
                </a:tc>
                <a:tc>
                  <a:txBody>
                    <a:bodyPr/>
                    <a:lstStyle/>
                    <a:p>
                      <a:pPr algn="ctr"/>
                      <a:r>
                        <a:rPr sz="1400" b="0">
                          <a:solidFill>
                            <a:srgbClr val="1A1A1A"/>
                          </a:solidFill>
                          <a:latin typeface="Calibri"/>
                        </a:rPr>
                        <a:t>0.451</a:t>
                      </a:r>
                    </a:p>
                  </a:txBody>
                  <a:tcPr anchor="ctr">
                    <a:solidFill>
                      <a:srgbClr val="F6F8F7"/>
                    </a:solidFill>
                  </a:tcPr>
                </a:tc>
                <a:tc>
                  <a:txBody>
                    <a:bodyPr/>
                    <a:lstStyle/>
                    <a:p>
                      <a:pPr algn="ctr"/>
                      <a:r>
                        <a:rPr sz="1400" b="0">
                          <a:solidFill>
                            <a:srgbClr val="1A1A1A"/>
                          </a:solidFill>
                          <a:latin typeface="Calibri"/>
                        </a:rPr>
                        <a:t>11.1</a:t>
                      </a:r>
                    </a:p>
                  </a:txBody>
                  <a:tcPr anchor="ctr">
                    <a:solidFill>
                      <a:srgbClr val="F6F8F7"/>
                    </a:solidFill>
                  </a:tcPr>
                </a:tc>
                <a:tc>
                  <a:txBody>
                    <a:bodyPr/>
                    <a:lstStyle/>
                    <a:p>
                      <a:pPr algn="ctr"/>
                      <a:r>
                        <a:rPr sz="1400" b="0">
                          <a:solidFill>
                            <a:srgbClr val="1A1A1A"/>
                          </a:solidFill>
                          <a:latin typeface="Calibri"/>
                        </a:rPr>
                        <a:t>0.0</a:t>
                      </a:r>
                    </a:p>
                  </a:txBody>
                  <a:tcPr anchor="ctr">
                    <a:solidFill>
                      <a:srgbClr val="F6F8F7"/>
                    </a:solidFill>
                  </a:tcPr>
                </a:tc>
              </a:tr>
              <a:tr h="384048">
                <a:tc>
                  <a:txBody>
                    <a:bodyPr/>
                    <a:lstStyle/>
                    <a:p>
                      <a:pPr algn="l"/>
                      <a:r>
                        <a:rPr sz="1400" b="0">
                          <a:solidFill>
                            <a:srgbClr val="1A1A1A"/>
                          </a:solidFill>
                          <a:latin typeface="Calibri"/>
                        </a:rPr>
                        <a:t>GWO</a:t>
                      </a:r>
                    </a:p>
                  </a:txBody>
                  <a:tcPr anchor="ctr">
                    <a:solidFill>
                      <a:srgbClr val="FFFFFF"/>
                    </a:solidFill>
                  </a:tcPr>
                </a:tc>
                <a:tc>
                  <a:txBody>
                    <a:bodyPr/>
                    <a:lstStyle/>
                    <a:p>
                      <a:pPr algn="ctr"/>
                      <a:r>
                        <a:rPr sz="1400" b="0">
                          <a:solidFill>
                            <a:srgbClr val="1A1A1A"/>
                          </a:solidFill>
                          <a:latin typeface="Calibri"/>
                        </a:rPr>
                        <a:t>5.033</a:t>
                      </a:r>
                    </a:p>
                  </a:txBody>
                  <a:tcPr anchor="ctr">
                    <a:solidFill>
                      <a:srgbClr val="FFFFFF"/>
                    </a:solidFill>
                  </a:tcPr>
                </a:tc>
                <a:tc>
                  <a:txBody>
                    <a:bodyPr/>
                    <a:lstStyle/>
                    <a:p>
                      <a:pPr algn="ctr"/>
                      <a:r>
                        <a:rPr sz="1400" b="0">
                          <a:solidFill>
                            <a:srgbClr val="1A1A1A"/>
                          </a:solidFill>
                          <a:latin typeface="Calibri"/>
                        </a:rPr>
                        <a:t>0.453</a:t>
                      </a:r>
                    </a:p>
                  </a:txBody>
                  <a:tcPr anchor="ctr">
                    <a:solidFill>
                      <a:srgbClr val="FFFFFF"/>
                    </a:solidFill>
                  </a:tcPr>
                </a:tc>
                <a:tc>
                  <a:txBody>
                    <a:bodyPr/>
                    <a:lstStyle/>
                    <a:p>
                      <a:pPr algn="ctr"/>
                      <a:r>
                        <a:rPr sz="1400" b="0">
                          <a:solidFill>
                            <a:srgbClr val="1A1A1A"/>
                          </a:solidFill>
                          <a:latin typeface="Calibri"/>
                        </a:rPr>
                        <a:t>10.7</a:t>
                      </a:r>
                    </a:p>
                  </a:txBody>
                  <a:tcPr anchor="ctr">
                    <a:solidFill>
                      <a:srgbClr val="FFFFFF"/>
                    </a:solidFill>
                  </a:tcPr>
                </a:tc>
                <a:tc>
                  <a:txBody>
                    <a:bodyPr/>
                    <a:lstStyle/>
                    <a:p>
                      <a:pPr algn="ctr"/>
                      <a:r>
                        <a:rPr sz="1400" b="0">
                          <a:solidFill>
                            <a:srgbClr val="1A1A1A"/>
                          </a:solidFill>
                          <a:latin typeface="Calibri"/>
                        </a:rPr>
                        <a:t>6.67</a:t>
                      </a:r>
                    </a:p>
                  </a:txBody>
                  <a:tcPr anchor="ctr">
                    <a:solidFill>
                      <a:srgbClr val="FFFFFF"/>
                    </a:solidFill>
                  </a:tcPr>
                </a:tc>
              </a:tr>
              <a:tr h="384048">
                <a:tc>
                  <a:txBody>
                    <a:bodyPr/>
                    <a:lstStyle/>
                    <a:p>
                      <a:pPr algn="l"/>
                      <a:r>
                        <a:rPr sz="1400" b="0">
                          <a:solidFill>
                            <a:srgbClr val="1A1A1A"/>
                          </a:solidFill>
                          <a:latin typeface="Calibri"/>
                        </a:rPr>
                        <a:t>PSO</a:t>
                      </a:r>
                    </a:p>
                  </a:txBody>
                  <a:tcPr anchor="ctr">
                    <a:solidFill>
                      <a:srgbClr val="F6F8F7"/>
                    </a:solidFill>
                  </a:tcPr>
                </a:tc>
                <a:tc>
                  <a:txBody>
                    <a:bodyPr/>
                    <a:lstStyle/>
                    <a:p>
                      <a:pPr algn="ctr"/>
                      <a:r>
                        <a:rPr sz="1400" b="0">
                          <a:solidFill>
                            <a:srgbClr val="1A1A1A"/>
                          </a:solidFill>
                          <a:latin typeface="Calibri"/>
                        </a:rPr>
                        <a:t>5.033</a:t>
                      </a:r>
                    </a:p>
                  </a:txBody>
                  <a:tcPr anchor="ctr">
                    <a:solidFill>
                      <a:srgbClr val="F6F8F7"/>
                    </a:solidFill>
                  </a:tcPr>
                </a:tc>
                <a:tc>
                  <a:txBody>
                    <a:bodyPr/>
                    <a:lstStyle/>
                    <a:p>
                      <a:pPr algn="ctr"/>
                      <a:r>
                        <a:rPr sz="1400" b="0">
                          <a:solidFill>
                            <a:srgbClr val="1A1A1A"/>
                          </a:solidFill>
                          <a:latin typeface="Calibri"/>
                        </a:rPr>
                        <a:t>0.411</a:t>
                      </a:r>
                    </a:p>
                  </a:txBody>
                  <a:tcPr anchor="ctr">
                    <a:solidFill>
                      <a:srgbClr val="F6F8F7"/>
                    </a:solidFill>
                  </a:tcPr>
                </a:tc>
                <a:tc>
                  <a:txBody>
                    <a:bodyPr/>
                    <a:lstStyle/>
                    <a:p>
                      <a:pPr algn="ctr"/>
                      <a:r>
                        <a:rPr sz="1400" b="0">
                          <a:solidFill>
                            <a:srgbClr val="1A1A1A"/>
                          </a:solidFill>
                          <a:latin typeface="Calibri"/>
                        </a:rPr>
                        <a:t>19.0</a:t>
                      </a:r>
                    </a:p>
                  </a:txBody>
                  <a:tcPr anchor="ctr">
                    <a:solidFill>
                      <a:srgbClr val="F6F8F7"/>
                    </a:solidFill>
                  </a:tcPr>
                </a:tc>
                <a:tc>
                  <a:txBody>
                    <a:bodyPr/>
                    <a:lstStyle/>
                    <a:p>
                      <a:pPr algn="ctr"/>
                      <a:r>
                        <a:rPr sz="1400" b="0">
                          <a:solidFill>
                            <a:srgbClr val="1A1A1A"/>
                          </a:solidFill>
                          <a:latin typeface="Calibri"/>
                        </a:rPr>
                        <a:t>20.0</a:t>
                      </a:r>
                    </a:p>
                  </a:txBody>
                  <a:tcPr anchor="ctr">
                    <a:solidFill>
                      <a:srgbClr val="F6F8F7"/>
                    </a:solidFill>
                  </a:tcPr>
                </a:tc>
              </a:tr>
              <a:tr h="384048">
                <a:tc>
                  <a:txBody>
                    <a:bodyPr/>
                    <a:lstStyle/>
                    <a:p>
                      <a:pPr algn="l"/>
                      <a:r>
                        <a:rPr sz="1400" b="0">
                          <a:solidFill>
                            <a:srgbClr val="1A1A1A"/>
                          </a:solidFill>
                          <a:latin typeface="Calibri"/>
                        </a:rPr>
                        <a:t>DE</a:t>
                      </a:r>
                    </a:p>
                  </a:txBody>
                  <a:tcPr anchor="ctr">
                    <a:solidFill>
                      <a:srgbClr val="FFFFFF"/>
                    </a:solidFill>
                  </a:tcPr>
                </a:tc>
                <a:tc>
                  <a:txBody>
                    <a:bodyPr/>
                    <a:lstStyle/>
                    <a:p>
                      <a:pPr algn="ctr"/>
                      <a:r>
                        <a:rPr sz="1400" b="0">
                          <a:solidFill>
                            <a:srgbClr val="1A1A1A"/>
                          </a:solidFill>
                          <a:latin typeface="Calibri"/>
                        </a:rPr>
                        <a:t>5.033</a:t>
                      </a:r>
                    </a:p>
                  </a:txBody>
                  <a:tcPr anchor="ctr">
                    <a:solidFill>
                      <a:srgbClr val="FFFFFF"/>
                    </a:solidFill>
                  </a:tcPr>
                </a:tc>
                <a:tc>
                  <a:txBody>
                    <a:bodyPr/>
                    <a:lstStyle/>
                    <a:p>
                      <a:pPr algn="ctr"/>
                      <a:r>
                        <a:rPr sz="1400" b="0">
                          <a:solidFill>
                            <a:srgbClr val="1A1A1A"/>
                          </a:solidFill>
                          <a:latin typeface="Calibri"/>
                        </a:rPr>
                        <a:t>0.409</a:t>
                      </a:r>
                    </a:p>
                  </a:txBody>
                  <a:tcPr anchor="ctr">
                    <a:solidFill>
                      <a:srgbClr val="FFFFFF"/>
                    </a:solidFill>
                  </a:tcPr>
                </a:tc>
                <a:tc>
                  <a:txBody>
                    <a:bodyPr/>
                    <a:lstStyle/>
                    <a:p>
                      <a:pPr algn="ctr"/>
                      <a:r>
                        <a:rPr sz="1400" b="0">
                          <a:solidFill>
                            <a:srgbClr val="1A1A1A"/>
                          </a:solidFill>
                          <a:latin typeface="Calibri"/>
                        </a:rPr>
                        <a:t>19.4</a:t>
                      </a:r>
                    </a:p>
                  </a:txBody>
                  <a:tcPr anchor="ctr">
                    <a:solidFill>
                      <a:srgbClr val="FFFFFF"/>
                    </a:solidFill>
                  </a:tcPr>
                </a:tc>
                <a:tc>
                  <a:txBody>
                    <a:bodyPr/>
                    <a:lstStyle/>
                    <a:p>
                      <a:pPr algn="ctr"/>
                      <a:r>
                        <a:rPr sz="1400" b="0">
                          <a:solidFill>
                            <a:srgbClr val="1A1A1A"/>
                          </a:solidFill>
                          <a:latin typeface="Calibri"/>
                        </a:rPr>
                        <a:t>21.67</a:t>
                      </a:r>
                    </a:p>
                  </a:txBody>
                  <a:tcPr anchor="ctr">
                    <a:solidFill>
                      <a:srgbClr val="FFFFFF"/>
                    </a:solidFill>
                  </a:tcPr>
                </a:tc>
              </a:tr>
              <a:tr h="384048">
                <a:tc>
                  <a:txBody>
                    <a:bodyPr/>
                    <a:lstStyle/>
                    <a:p>
                      <a:pPr algn="l"/>
                      <a:r>
                        <a:rPr sz="1400" b="0">
                          <a:solidFill>
                            <a:srgbClr val="1A1A1A"/>
                          </a:solidFill>
                          <a:latin typeface="Calibri"/>
                        </a:rPr>
                        <a:t>GA</a:t>
                      </a:r>
                    </a:p>
                  </a:txBody>
                  <a:tcPr anchor="ctr">
                    <a:solidFill>
                      <a:srgbClr val="F6F8F7"/>
                    </a:solidFill>
                  </a:tcPr>
                </a:tc>
                <a:tc>
                  <a:txBody>
                    <a:bodyPr/>
                    <a:lstStyle/>
                    <a:p>
                      <a:pPr algn="ctr"/>
                      <a:r>
                        <a:rPr sz="1400" b="0">
                          <a:solidFill>
                            <a:srgbClr val="1A1A1A"/>
                          </a:solidFill>
                          <a:latin typeface="Calibri"/>
                        </a:rPr>
                        <a:t>5.033</a:t>
                      </a:r>
                    </a:p>
                  </a:txBody>
                  <a:tcPr anchor="ctr">
                    <a:solidFill>
                      <a:srgbClr val="F6F8F7"/>
                    </a:solidFill>
                  </a:tcPr>
                </a:tc>
                <a:tc>
                  <a:txBody>
                    <a:bodyPr/>
                    <a:lstStyle/>
                    <a:p>
                      <a:pPr algn="ctr"/>
                      <a:r>
                        <a:rPr sz="1400" b="0">
                          <a:solidFill>
                            <a:srgbClr val="1A1A1A"/>
                          </a:solidFill>
                          <a:latin typeface="Calibri"/>
                        </a:rPr>
                        <a:t>0.405</a:t>
                      </a:r>
                    </a:p>
                  </a:txBody>
                  <a:tcPr anchor="ctr">
                    <a:solidFill>
                      <a:srgbClr val="F6F8F7"/>
                    </a:solidFill>
                  </a:tcPr>
                </a:tc>
                <a:tc>
                  <a:txBody>
                    <a:bodyPr/>
                    <a:lstStyle/>
                    <a:p>
                      <a:pPr algn="ctr"/>
                      <a:r>
                        <a:rPr sz="1400" b="0">
                          <a:solidFill>
                            <a:srgbClr val="1A1A1A"/>
                          </a:solidFill>
                          <a:latin typeface="Calibri"/>
                        </a:rPr>
                        <a:t>20.1</a:t>
                      </a:r>
                    </a:p>
                  </a:txBody>
                  <a:tcPr anchor="ctr">
                    <a:solidFill>
                      <a:srgbClr val="F6F8F7"/>
                    </a:solidFill>
                  </a:tcPr>
                </a:tc>
                <a:tc>
                  <a:txBody>
                    <a:bodyPr/>
                    <a:lstStyle/>
                    <a:p>
                      <a:pPr algn="ctr"/>
                      <a:r>
                        <a:rPr sz="1400" b="0">
                          <a:solidFill>
                            <a:srgbClr val="1A1A1A"/>
                          </a:solidFill>
                          <a:latin typeface="Calibri"/>
                        </a:rPr>
                        <a:t>56.67</a:t>
                      </a:r>
                    </a:p>
                  </a:txBody>
                  <a:tcPr anchor="ctr">
                    <a:solidFill>
                      <a:srgbClr val="F6F8F7"/>
                    </a:solidFill>
                  </a:tcPr>
                </a:tc>
              </a:tr>
            </a:tbl>
          </a:graphicData>
        </a:graphic>
      </p:graphicFrame>
      <p:sp>
        <p:nvSpPr>
          <p:cNvPr id="7" name="TextBox 6"/>
          <p:cNvSpPr txBox="1"/>
          <p:nvPr/>
        </p:nvSpPr>
        <p:spPr>
          <a:xfrm>
            <a:off x="640080" y="5257800"/>
            <a:ext cx="10911535" cy="1188720"/>
          </a:xfrm>
          <a:prstGeom prst="rect">
            <a:avLst/>
          </a:prstGeom>
          <a:noFill/>
        </p:spPr>
        <p:txBody>
          <a:bodyPr wrap="square">
            <a:spAutoFit/>
          </a:bodyPr>
          <a:lstStyle/>
          <a:p>
            <a:r>
              <a:rPr sz="1500" b="1">
                <a:solidFill>
                  <a:srgbClr val="2E8B57"/>
                </a:solidFill>
                <a:latin typeface="Calibri"/>
              </a:rPr>
              <a:t>CA-WOA 11.3%  vs  standard WOA 1.2%  —  identical algorithm, identical budget. The seeding is the only difference.</a:t>
            </a:r>
          </a:p>
          <a:p>
            <a:pPr>
              <a:spcBef>
                <a:spcPts val="800"/>
              </a:spcBef>
            </a:pPr>
            <a:r>
              <a:rPr sz="1400" i="1">
                <a:solidFill>
                  <a:srgbClr val="C87A1E"/>
                </a:solidFill>
                <a:latin typeface="Calibri"/>
              </a:rPr>
              <a:t>Said plainly: GA/DE/PSO cut more carbon — by missing 20–57% of deadlines. Among methods that meet EVERY deadline, CA-WOA leads.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Carbon reduction and SLA, side by side</a:t>
            </a:r>
          </a:p>
        </p:txBody>
      </p:sp>
      <p:sp>
        <p:nvSpPr>
          <p:cNvPr id="3" name="Rectangle 2"/>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15</a:t>
            </a:r>
          </a:p>
        </p:txBody>
      </p:sp>
      <p:pic>
        <p:nvPicPr>
          <p:cNvPr id="5" name="Picture 4" descr="proposed_ca_woa_comparison.png"/>
          <p:cNvPicPr>
            <a:picLocks noChangeAspect="1"/>
          </p:cNvPicPr>
          <p:nvPr/>
        </p:nvPicPr>
        <p:blipFill>
          <a:blip r:embed="rId3"/>
          <a:stretch>
            <a:fillRect/>
          </a:stretch>
        </p:blipFill>
        <p:spPr>
          <a:xfrm>
            <a:off x="792327" y="1645920"/>
            <a:ext cx="10607040" cy="3916445"/>
          </a:xfrm>
          <a:prstGeom prst="rect">
            <a:avLst/>
          </a:prstGeom>
        </p:spPr>
      </p:pic>
      <p:sp>
        <p:nvSpPr>
          <p:cNvPr id="6" name="TextBox 5"/>
          <p:cNvSpPr txBox="1"/>
          <p:nvPr/>
        </p:nvSpPr>
        <p:spPr>
          <a:xfrm>
            <a:off x="640080" y="5672093"/>
            <a:ext cx="10911535" cy="457200"/>
          </a:xfrm>
          <a:prstGeom prst="rect">
            <a:avLst/>
          </a:prstGeom>
          <a:noFill/>
        </p:spPr>
        <p:txBody>
          <a:bodyPr wrap="square">
            <a:spAutoFit/>
          </a:bodyPr>
          <a:lstStyle/>
          <a:p>
            <a:pPr algn="ctr">
              <a:spcAft>
                <a:spcPts val="0"/>
              </a:spcAft>
            </a:pPr>
            <a:r>
              <a:rPr sz="1300" b="0" i="1">
                <a:solidFill>
                  <a:srgbClr val="5F6B6A"/>
                </a:solidFill>
                <a:latin typeface="Calibri"/>
              </a:rPr>
              <a:t>Left: carbon reduction vs FIFO (proposed method in green). Right: SLA violations. The tallest left-hand bars are the tallest right-hand bars too.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Robustness — 5 random seeds</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Metaheuristics are stochastic; a single run proves nothing</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16</a:t>
            </a:r>
          </a:p>
        </p:txBody>
      </p:sp>
      <p:graphicFrame>
        <p:nvGraphicFramePr>
          <p:cNvPr id="6" name="Table 5"/>
          <p:cNvGraphicFramePr>
            <a:graphicFrameLocks noGrp="1"/>
          </p:cNvGraphicFramePr>
          <p:nvPr/>
        </p:nvGraphicFramePr>
        <p:xfrm>
          <a:off x="640080" y="1572768"/>
          <a:ext cx="10911533" cy="3840480"/>
        </p:xfrm>
        <a:graphic>
          <a:graphicData uri="http://schemas.openxmlformats.org/drawingml/2006/table">
            <a:tbl>
              <a:tblPr firstRow="1" bandRow="1">
                <a:tableStyleId>{5C22544A-7EE6-4342-B048-85BDC9FD1C3A}</a:tableStyleId>
              </a:tblPr>
              <a:tblGrid>
                <a:gridCol w="4013438"/>
                <a:gridCol w="1881299"/>
                <a:gridCol w="1003359"/>
                <a:gridCol w="1505039"/>
                <a:gridCol w="1003359"/>
                <a:gridCol w="1505039"/>
              </a:tblGrid>
              <a:tr h="384048">
                <a:tc>
                  <a:txBody>
                    <a:bodyPr/>
                    <a:lstStyle/>
                    <a:p>
                      <a:pPr algn="l"/>
                      <a:r>
                        <a:rPr sz="1300" b="1">
                          <a:solidFill>
                            <a:srgbClr val="FFFFFF"/>
                          </a:solidFill>
                          <a:latin typeface="Calibri"/>
                        </a:rPr>
                        <a:t>Method</a:t>
                      </a:r>
                    </a:p>
                  </a:txBody>
                  <a:tcPr anchor="ctr">
                    <a:solidFill>
                      <a:srgbClr val="103D38"/>
                    </a:solidFill>
                  </a:tcPr>
                </a:tc>
                <a:tc>
                  <a:txBody>
                    <a:bodyPr/>
                    <a:lstStyle/>
                    <a:p>
                      <a:pPr algn="ctr"/>
                      <a:r>
                        <a:rPr sz="1300" b="1">
                          <a:solidFill>
                            <a:srgbClr val="FFFFFF"/>
                          </a:solidFill>
                          <a:latin typeface="Calibri"/>
                        </a:rPr>
                        <a:t>Carbon ↓ mean %</a:t>
                      </a:r>
                    </a:p>
                  </a:txBody>
                  <a:tcPr anchor="ctr">
                    <a:solidFill>
                      <a:srgbClr val="103D38"/>
                    </a:solidFill>
                  </a:tcPr>
                </a:tc>
                <a:tc>
                  <a:txBody>
                    <a:bodyPr/>
                    <a:lstStyle/>
                    <a:p>
                      <a:pPr algn="ctr"/>
                      <a:r>
                        <a:rPr sz="1300" b="1">
                          <a:solidFill>
                            <a:srgbClr val="FFFFFF"/>
                          </a:solidFill>
                          <a:latin typeface="Calibri"/>
                        </a:rPr>
                        <a:t>std</a:t>
                      </a:r>
                    </a:p>
                  </a:txBody>
                  <a:tcPr anchor="ctr">
                    <a:solidFill>
                      <a:srgbClr val="103D38"/>
                    </a:solidFill>
                  </a:tcPr>
                </a:tc>
                <a:tc>
                  <a:txBody>
                    <a:bodyPr/>
                    <a:lstStyle/>
                    <a:p>
                      <a:pPr algn="ctr"/>
                      <a:r>
                        <a:rPr sz="1300" b="1">
                          <a:solidFill>
                            <a:srgbClr val="FFFFFF"/>
                          </a:solidFill>
                          <a:latin typeface="Calibri"/>
                        </a:rPr>
                        <a:t>SLA mean %</a:t>
                      </a:r>
                    </a:p>
                  </a:txBody>
                  <a:tcPr anchor="ctr">
                    <a:solidFill>
                      <a:srgbClr val="103D38"/>
                    </a:solidFill>
                  </a:tcPr>
                </a:tc>
                <a:tc>
                  <a:txBody>
                    <a:bodyPr/>
                    <a:lstStyle/>
                    <a:p>
                      <a:pPr algn="ctr"/>
                      <a:r>
                        <a:rPr sz="1300" b="1">
                          <a:solidFill>
                            <a:srgbClr val="FFFFFF"/>
                          </a:solidFill>
                          <a:latin typeface="Calibri"/>
                        </a:rPr>
                        <a:t>std</a:t>
                      </a:r>
                    </a:p>
                  </a:txBody>
                  <a:tcPr anchor="ctr">
                    <a:solidFill>
                      <a:srgbClr val="103D38"/>
                    </a:solidFill>
                  </a:tcPr>
                </a:tc>
                <a:tc>
                  <a:txBody>
                    <a:bodyPr/>
                    <a:lstStyle/>
                    <a:p>
                      <a:pPr algn="ctr"/>
                      <a:r>
                        <a:rPr sz="1300" b="1">
                          <a:solidFill>
                            <a:srgbClr val="FFFFFF"/>
                          </a:solidFill>
                          <a:latin typeface="Calibri"/>
                        </a:rPr>
                        <a:t>Makespan h</a:t>
                      </a:r>
                    </a:p>
                  </a:txBody>
                  <a:tcPr anchor="ctr">
                    <a:solidFill>
                      <a:srgbClr val="103D38"/>
                    </a:solidFill>
                  </a:tcPr>
                </a:tc>
              </a:tr>
              <a:tr h="384048">
                <a:tc>
                  <a:txBody>
                    <a:bodyPr/>
                    <a:lstStyle/>
                    <a:p>
                      <a:pPr algn="l"/>
                      <a:r>
                        <a:rPr sz="1350" b="0">
                          <a:solidFill>
                            <a:srgbClr val="1A1A1A"/>
                          </a:solidFill>
                          <a:latin typeface="Calibri"/>
                        </a:rPr>
                        <a:t>FIFO / Round-Robin (baseline)</a:t>
                      </a:r>
                    </a:p>
                  </a:txBody>
                  <a:tcPr anchor="ctr">
                    <a:solidFill>
                      <a:srgbClr val="FFFFFF"/>
                    </a:solidFill>
                  </a:tcPr>
                </a:tc>
                <a:tc>
                  <a:txBody>
                    <a:bodyPr/>
                    <a:lstStyle/>
                    <a:p>
                      <a:pPr algn="ctr"/>
                      <a:r>
                        <a:rPr sz="1350" b="0">
                          <a:solidFill>
                            <a:srgbClr val="1A1A1A"/>
                          </a:solidFill>
                          <a:latin typeface="Calibri"/>
                        </a:rPr>
                        <a:t>0.0</a:t>
                      </a:r>
                    </a:p>
                  </a:txBody>
                  <a:tcPr anchor="ctr">
                    <a:solidFill>
                      <a:srgbClr val="FFFFFF"/>
                    </a:solidFill>
                  </a:tcPr>
                </a:tc>
                <a:tc>
                  <a:txBody>
                    <a:bodyPr/>
                    <a:lstStyle/>
                    <a:p>
                      <a:pPr algn="ctr"/>
                      <a:r>
                        <a:rPr sz="1350" b="0">
                          <a:solidFill>
                            <a:srgbClr val="1A1A1A"/>
                          </a:solidFill>
                          <a:latin typeface="Calibri"/>
                        </a:rPr>
                        <a:t>0.0</a:t>
                      </a:r>
                    </a:p>
                  </a:txBody>
                  <a:tcPr anchor="ctr">
                    <a:solidFill>
                      <a:srgbClr val="FFFFFF"/>
                    </a:solidFill>
                  </a:tcPr>
                </a:tc>
                <a:tc>
                  <a:txBody>
                    <a:bodyPr/>
                    <a:lstStyle/>
                    <a:p>
                      <a:pPr algn="ctr"/>
                      <a:r>
                        <a:rPr sz="1350" b="0">
                          <a:solidFill>
                            <a:srgbClr val="1A1A1A"/>
                          </a:solidFill>
                          <a:latin typeface="Calibri"/>
                        </a:rPr>
                        <a:t>0.0</a:t>
                      </a:r>
                    </a:p>
                  </a:txBody>
                  <a:tcPr anchor="ctr">
                    <a:solidFill>
                      <a:srgbClr val="FFFFFF"/>
                    </a:solidFill>
                  </a:tcPr>
                </a:tc>
                <a:tc>
                  <a:txBody>
                    <a:bodyPr/>
                    <a:lstStyle/>
                    <a:p>
                      <a:pPr algn="ctr"/>
                      <a:r>
                        <a:rPr sz="1350" b="0">
                          <a:solidFill>
                            <a:srgbClr val="1A1A1A"/>
                          </a:solidFill>
                          <a:latin typeface="Calibri"/>
                        </a:rPr>
                        <a:t>0.0</a:t>
                      </a:r>
                    </a:p>
                  </a:txBody>
                  <a:tcPr anchor="ctr">
                    <a:solidFill>
                      <a:srgbClr val="FFFFFF"/>
                    </a:solidFill>
                  </a:tcPr>
                </a:tc>
                <a:tc>
                  <a:txBody>
                    <a:bodyPr/>
                    <a:lstStyle/>
                    <a:p>
                      <a:pPr algn="ctr"/>
                      <a:r>
                        <a:rPr sz="1350" b="0">
                          <a:solidFill>
                            <a:srgbClr val="1A1A1A"/>
                          </a:solidFill>
                          <a:latin typeface="Calibri"/>
                        </a:rPr>
                        <a:t>2.0</a:t>
                      </a:r>
                    </a:p>
                  </a:txBody>
                  <a:tcPr anchor="ctr">
                    <a:solidFill>
                      <a:srgbClr val="FFFFFF"/>
                    </a:solidFill>
                  </a:tcPr>
                </a:tc>
              </a:tr>
              <a:tr h="384048">
                <a:tc>
                  <a:txBody>
                    <a:bodyPr/>
                    <a:lstStyle/>
                    <a:p>
                      <a:pPr algn="l"/>
                      <a:r>
                        <a:rPr sz="1350" b="0">
                          <a:solidFill>
                            <a:srgbClr val="1A1A1A"/>
                          </a:solidFill>
                          <a:latin typeface="Calibri"/>
                        </a:rPr>
                        <a:t>Carbon-aware greedy</a:t>
                      </a:r>
                    </a:p>
                  </a:txBody>
                  <a:tcPr anchor="ctr">
                    <a:solidFill>
                      <a:srgbClr val="F6F8F7"/>
                    </a:solidFill>
                  </a:tcPr>
                </a:tc>
                <a:tc>
                  <a:txBody>
                    <a:bodyPr/>
                    <a:lstStyle/>
                    <a:p>
                      <a:pPr algn="ctr"/>
                      <a:r>
                        <a:rPr sz="1350" b="0">
                          <a:solidFill>
                            <a:srgbClr val="1A1A1A"/>
                          </a:solidFill>
                          <a:latin typeface="Calibri"/>
                        </a:rPr>
                        <a:t>11.17</a:t>
                      </a:r>
                    </a:p>
                  </a:txBody>
                  <a:tcPr anchor="ctr">
                    <a:solidFill>
                      <a:srgbClr val="F6F8F7"/>
                    </a:solidFill>
                  </a:tcPr>
                </a:tc>
                <a:tc>
                  <a:txBody>
                    <a:bodyPr/>
                    <a:lstStyle/>
                    <a:p>
                      <a:pPr algn="ctr"/>
                      <a:r>
                        <a:rPr sz="1350" b="0">
                          <a:solidFill>
                            <a:srgbClr val="1A1A1A"/>
                          </a:solidFill>
                          <a:latin typeface="Calibri"/>
                        </a:rPr>
                        <a:t>0.0</a:t>
                      </a:r>
                    </a:p>
                  </a:txBody>
                  <a:tcPr anchor="ctr">
                    <a:solidFill>
                      <a:srgbClr val="F6F8F7"/>
                    </a:solidFill>
                  </a:tcPr>
                </a:tc>
                <a:tc>
                  <a:txBody>
                    <a:bodyPr/>
                    <a:lstStyle/>
                    <a:p>
                      <a:pPr algn="ctr"/>
                      <a:r>
                        <a:rPr sz="1350" b="0">
                          <a:solidFill>
                            <a:srgbClr val="1A1A1A"/>
                          </a:solidFill>
                          <a:latin typeface="Calibri"/>
                        </a:rPr>
                        <a:t>0.0</a:t>
                      </a:r>
                    </a:p>
                  </a:txBody>
                  <a:tcPr anchor="ctr">
                    <a:solidFill>
                      <a:srgbClr val="F6F8F7"/>
                    </a:solidFill>
                  </a:tcPr>
                </a:tc>
                <a:tc>
                  <a:txBody>
                    <a:bodyPr/>
                    <a:lstStyle/>
                    <a:p>
                      <a:pPr algn="ctr"/>
                      <a:r>
                        <a:rPr sz="1350" b="0">
                          <a:solidFill>
                            <a:srgbClr val="1A1A1A"/>
                          </a:solidFill>
                          <a:latin typeface="Calibri"/>
                        </a:rPr>
                        <a:t>0.0</a:t>
                      </a:r>
                    </a:p>
                  </a:txBody>
                  <a:tcPr anchor="ctr">
                    <a:solidFill>
                      <a:srgbClr val="F6F8F7"/>
                    </a:solidFill>
                  </a:tcPr>
                </a:tc>
                <a:tc>
                  <a:txBody>
                    <a:bodyPr/>
                    <a:lstStyle/>
                    <a:p>
                      <a:pPr algn="ctr"/>
                      <a:r>
                        <a:rPr sz="1350" b="0">
                          <a:solidFill>
                            <a:srgbClr val="1A1A1A"/>
                          </a:solidFill>
                          <a:latin typeface="Calibri"/>
                        </a:rPr>
                        <a:t>5.5</a:t>
                      </a:r>
                    </a:p>
                  </a:txBody>
                  <a:tcPr anchor="ctr">
                    <a:solidFill>
                      <a:srgbClr val="F6F8F7"/>
                    </a:solidFill>
                  </a:tcPr>
                </a:tc>
              </a:tr>
              <a:tr h="384048">
                <a:tc>
                  <a:txBody>
                    <a:bodyPr/>
                    <a:lstStyle/>
                    <a:p>
                      <a:pPr algn="l"/>
                      <a:r>
                        <a:rPr sz="1350" b="1">
                          <a:solidFill>
                            <a:srgbClr val="2E8B57"/>
                          </a:solidFill>
                          <a:latin typeface="Calibri"/>
                        </a:rPr>
                        <a:t>CA-WOA  (proposed)</a:t>
                      </a:r>
                    </a:p>
                  </a:txBody>
                  <a:tcPr anchor="ctr">
                    <a:solidFill>
                      <a:srgbClr val="E8F2EE"/>
                    </a:solidFill>
                  </a:tcPr>
                </a:tc>
                <a:tc>
                  <a:txBody>
                    <a:bodyPr/>
                    <a:lstStyle/>
                    <a:p>
                      <a:pPr algn="ctr"/>
                      <a:r>
                        <a:rPr sz="1350" b="1">
                          <a:solidFill>
                            <a:srgbClr val="2E8B57"/>
                          </a:solidFill>
                          <a:latin typeface="Calibri"/>
                        </a:rPr>
                        <a:t>11.17</a:t>
                      </a:r>
                    </a:p>
                  </a:txBody>
                  <a:tcPr anchor="ctr">
                    <a:solidFill>
                      <a:srgbClr val="E8F2EE"/>
                    </a:solidFill>
                  </a:tcPr>
                </a:tc>
                <a:tc>
                  <a:txBody>
                    <a:bodyPr/>
                    <a:lstStyle/>
                    <a:p>
                      <a:pPr algn="ctr"/>
                      <a:r>
                        <a:rPr sz="1350" b="1">
                          <a:solidFill>
                            <a:srgbClr val="2E8B57"/>
                          </a:solidFill>
                          <a:latin typeface="Calibri"/>
                        </a:rPr>
                        <a:t>0.0</a:t>
                      </a:r>
                    </a:p>
                  </a:txBody>
                  <a:tcPr anchor="ctr">
                    <a:solidFill>
                      <a:srgbClr val="E8F2EE"/>
                    </a:solidFill>
                  </a:tcPr>
                </a:tc>
                <a:tc>
                  <a:txBody>
                    <a:bodyPr/>
                    <a:lstStyle/>
                    <a:p>
                      <a:pPr algn="ctr"/>
                      <a:r>
                        <a:rPr sz="1350" b="1">
                          <a:solidFill>
                            <a:srgbClr val="2E8B57"/>
                          </a:solidFill>
                          <a:latin typeface="Calibri"/>
                        </a:rPr>
                        <a:t>0.0</a:t>
                      </a:r>
                    </a:p>
                  </a:txBody>
                  <a:tcPr anchor="ctr">
                    <a:solidFill>
                      <a:srgbClr val="E8F2EE"/>
                    </a:solidFill>
                  </a:tcPr>
                </a:tc>
                <a:tc>
                  <a:txBody>
                    <a:bodyPr/>
                    <a:lstStyle/>
                    <a:p>
                      <a:pPr algn="ctr"/>
                      <a:r>
                        <a:rPr sz="1350" b="1">
                          <a:solidFill>
                            <a:srgbClr val="2E8B57"/>
                          </a:solidFill>
                          <a:latin typeface="Calibri"/>
                        </a:rPr>
                        <a:t>0.0</a:t>
                      </a:r>
                    </a:p>
                  </a:txBody>
                  <a:tcPr anchor="ctr">
                    <a:solidFill>
                      <a:srgbClr val="E8F2EE"/>
                    </a:solidFill>
                  </a:tcPr>
                </a:tc>
                <a:tc>
                  <a:txBody>
                    <a:bodyPr/>
                    <a:lstStyle/>
                    <a:p>
                      <a:pPr algn="ctr"/>
                      <a:r>
                        <a:rPr sz="1350" b="1">
                          <a:solidFill>
                            <a:srgbClr val="2E8B57"/>
                          </a:solidFill>
                          <a:latin typeface="Calibri"/>
                        </a:rPr>
                        <a:t>5.5</a:t>
                      </a:r>
                    </a:p>
                  </a:txBody>
                  <a:tcPr anchor="ctr">
                    <a:solidFill>
                      <a:srgbClr val="E8F2EE"/>
                    </a:solidFill>
                  </a:tcPr>
                </a:tc>
              </a:tr>
              <a:tr h="384048">
                <a:tc>
                  <a:txBody>
                    <a:bodyPr/>
                    <a:lstStyle/>
                    <a:p>
                      <a:pPr algn="l"/>
                      <a:r>
                        <a:rPr sz="1350" b="0">
                          <a:solidFill>
                            <a:srgbClr val="1A1A1A"/>
                          </a:solidFill>
                          <a:latin typeface="Calibri"/>
                        </a:rPr>
                        <a:t>WOA (standard)</a:t>
                      </a:r>
                    </a:p>
                  </a:txBody>
                  <a:tcPr anchor="ctr">
                    <a:solidFill>
                      <a:srgbClr val="F6F8F7"/>
                    </a:solidFill>
                  </a:tcPr>
                </a:tc>
                <a:tc>
                  <a:txBody>
                    <a:bodyPr/>
                    <a:lstStyle/>
                    <a:p>
                      <a:pPr algn="ctr"/>
                      <a:r>
                        <a:rPr sz="1350" b="0">
                          <a:solidFill>
                            <a:srgbClr val="1A1A1A"/>
                          </a:solidFill>
                          <a:latin typeface="Calibri"/>
                        </a:rPr>
                        <a:t>3.54</a:t>
                      </a:r>
                    </a:p>
                  </a:txBody>
                  <a:tcPr anchor="ctr">
                    <a:solidFill>
                      <a:srgbClr val="F6F8F7"/>
                    </a:solidFill>
                  </a:tcPr>
                </a:tc>
                <a:tc>
                  <a:txBody>
                    <a:bodyPr/>
                    <a:lstStyle/>
                    <a:p>
                      <a:pPr algn="ctr"/>
                      <a:r>
                        <a:rPr sz="1350" b="0">
                          <a:solidFill>
                            <a:srgbClr val="1A1A1A"/>
                          </a:solidFill>
                          <a:latin typeface="Calibri"/>
                        </a:rPr>
                        <a:t>4.31</a:t>
                      </a:r>
                    </a:p>
                  </a:txBody>
                  <a:tcPr anchor="ctr">
                    <a:solidFill>
                      <a:srgbClr val="F6F8F7"/>
                    </a:solidFill>
                  </a:tcPr>
                </a:tc>
                <a:tc>
                  <a:txBody>
                    <a:bodyPr/>
                    <a:lstStyle/>
                    <a:p>
                      <a:pPr algn="ctr"/>
                      <a:r>
                        <a:rPr sz="1350" b="0">
                          <a:solidFill>
                            <a:srgbClr val="1A1A1A"/>
                          </a:solidFill>
                          <a:latin typeface="Calibri"/>
                        </a:rPr>
                        <a:t>2.33</a:t>
                      </a:r>
                    </a:p>
                  </a:txBody>
                  <a:tcPr anchor="ctr">
                    <a:solidFill>
                      <a:srgbClr val="F6F8F7"/>
                    </a:solidFill>
                  </a:tcPr>
                </a:tc>
                <a:tc>
                  <a:txBody>
                    <a:bodyPr/>
                    <a:lstStyle/>
                    <a:p>
                      <a:pPr algn="ctr"/>
                      <a:r>
                        <a:rPr sz="1350" b="0">
                          <a:solidFill>
                            <a:srgbClr val="1A1A1A"/>
                          </a:solidFill>
                          <a:latin typeface="Calibri"/>
                        </a:rPr>
                        <a:t>4.67</a:t>
                      </a:r>
                    </a:p>
                  </a:txBody>
                  <a:tcPr anchor="ctr">
                    <a:solidFill>
                      <a:srgbClr val="F6F8F7"/>
                    </a:solidFill>
                  </a:tcPr>
                </a:tc>
                <a:tc>
                  <a:txBody>
                    <a:bodyPr/>
                    <a:lstStyle/>
                    <a:p>
                      <a:pPr algn="ctr"/>
                      <a:r>
                        <a:rPr sz="1350" b="0">
                          <a:solidFill>
                            <a:srgbClr val="1A1A1A"/>
                          </a:solidFill>
                          <a:latin typeface="Calibri"/>
                        </a:rPr>
                        <a:t>6.9</a:t>
                      </a:r>
                    </a:p>
                  </a:txBody>
                  <a:tcPr anchor="ctr">
                    <a:solidFill>
                      <a:srgbClr val="F6F8F7"/>
                    </a:solidFill>
                  </a:tcPr>
                </a:tc>
              </a:tr>
              <a:tr h="384048">
                <a:tc>
                  <a:txBody>
                    <a:bodyPr/>
                    <a:lstStyle/>
                    <a:p>
                      <a:pPr algn="l"/>
                      <a:r>
                        <a:rPr sz="1350" b="0">
                          <a:solidFill>
                            <a:srgbClr val="1A1A1A"/>
                          </a:solidFill>
                          <a:latin typeface="Calibri"/>
                        </a:rPr>
                        <a:t>GWO</a:t>
                      </a:r>
                    </a:p>
                  </a:txBody>
                  <a:tcPr anchor="ctr">
                    <a:solidFill>
                      <a:srgbClr val="FFFFFF"/>
                    </a:solidFill>
                  </a:tcPr>
                </a:tc>
                <a:tc>
                  <a:txBody>
                    <a:bodyPr/>
                    <a:lstStyle/>
                    <a:p>
                      <a:pPr algn="ctr"/>
                      <a:r>
                        <a:rPr sz="1350" b="0">
                          <a:solidFill>
                            <a:srgbClr val="1A1A1A"/>
                          </a:solidFill>
                          <a:latin typeface="Calibri"/>
                        </a:rPr>
                        <a:t>11.97</a:t>
                      </a:r>
                    </a:p>
                  </a:txBody>
                  <a:tcPr anchor="ctr">
                    <a:solidFill>
                      <a:srgbClr val="FFFFFF"/>
                    </a:solidFill>
                  </a:tcPr>
                </a:tc>
                <a:tc>
                  <a:txBody>
                    <a:bodyPr/>
                    <a:lstStyle/>
                    <a:p>
                      <a:pPr algn="ctr"/>
                      <a:r>
                        <a:rPr sz="1350" b="0">
                          <a:solidFill>
                            <a:srgbClr val="1A1A1A"/>
                          </a:solidFill>
                          <a:latin typeface="Calibri"/>
                        </a:rPr>
                        <a:t>3.82</a:t>
                      </a:r>
                    </a:p>
                  </a:txBody>
                  <a:tcPr anchor="ctr">
                    <a:solidFill>
                      <a:srgbClr val="FFFFFF"/>
                    </a:solidFill>
                  </a:tcPr>
                </a:tc>
                <a:tc>
                  <a:txBody>
                    <a:bodyPr/>
                    <a:lstStyle/>
                    <a:p>
                      <a:pPr algn="ctr"/>
                      <a:r>
                        <a:rPr sz="1350" b="0">
                          <a:solidFill>
                            <a:srgbClr val="1A1A1A"/>
                          </a:solidFill>
                          <a:latin typeface="Calibri"/>
                        </a:rPr>
                        <a:t>8.0</a:t>
                      </a:r>
                    </a:p>
                  </a:txBody>
                  <a:tcPr anchor="ctr">
                    <a:solidFill>
                      <a:srgbClr val="FFFFFF"/>
                    </a:solidFill>
                  </a:tcPr>
                </a:tc>
                <a:tc>
                  <a:txBody>
                    <a:bodyPr/>
                    <a:lstStyle/>
                    <a:p>
                      <a:pPr algn="ctr"/>
                      <a:r>
                        <a:rPr sz="1350" b="0">
                          <a:solidFill>
                            <a:srgbClr val="1A1A1A"/>
                          </a:solidFill>
                          <a:latin typeface="Calibri"/>
                        </a:rPr>
                        <a:t>3.86</a:t>
                      </a:r>
                    </a:p>
                  </a:txBody>
                  <a:tcPr anchor="ctr">
                    <a:solidFill>
                      <a:srgbClr val="FFFFFF"/>
                    </a:solidFill>
                  </a:tcPr>
                </a:tc>
                <a:tc>
                  <a:txBody>
                    <a:bodyPr/>
                    <a:lstStyle/>
                    <a:p>
                      <a:pPr algn="ctr"/>
                      <a:r>
                        <a:rPr sz="1350" b="0">
                          <a:solidFill>
                            <a:srgbClr val="1A1A1A"/>
                          </a:solidFill>
                          <a:latin typeface="Calibri"/>
                        </a:rPr>
                        <a:t>13.5</a:t>
                      </a:r>
                    </a:p>
                  </a:txBody>
                  <a:tcPr anchor="ctr">
                    <a:solidFill>
                      <a:srgbClr val="FFFFFF"/>
                    </a:solidFill>
                  </a:tcPr>
                </a:tc>
              </a:tr>
              <a:tr h="384048">
                <a:tc>
                  <a:txBody>
                    <a:bodyPr/>
                    <a:lstStyle/>
                    <a:p>
                      <a:pPr algn="l"/>
                      <a:r>
                        <a:rPr sz="1350" b="0">
                          <a:solidFill>
                            <a:srgbClr val="1A1A1A"/>
                          </a:solidFill>
                          <a:latin typeface="Calibri"/>
                        </a:rPr>
                        <a:t>PSO</a:t>
                      </a:r>
                    </a:p>
                  </a:txBody>
                  <a:tcPr anchor="ctr">
                    <a:solidFill>
                      <a:srgbClr val="F6F8F7"/>
                    </a:solidFill>
                  </a:tcPr>
                </a:tc>
                <a:tc>
                  <a:txBody>
                    <a:bodyPr/>
                    <a:lstStyle/>
                    <a:p>
                      <a:pPr algn="ctr"/>
                      <a:r>
                        <a:rPr sz="1350" b="0">
                          <a:solidFill>
                            <a:srgbClr val="1A1A1A"/>
                          </a:solidFill>
                          <a:latin typeface="Calibri"/>
                        </a:rPr>
                        <a:t>13.86</a:t>
                      </a:r>
                    </a:p>
                  </a:txBody>
                  <a:tcPr anchor="ctr">
                    <a:solidFill>
                      <a:srgbClr val="F6F8F7"/>
                    </a:solidFill>
                  </a:tcPr>
                </a:tc>
                <a:tc>
                  <a:txBody>
                    <a:bodyPr/>
                    <a:lstStyle/>
                    <a:p>
                      <a:pPr algn="ctr"/>
                      <a:r>
                        <a:rPr sz="1350" b="0">
                          <a:solidFill>
                            <a:srgbClr val="1A1A1A"/>
                          </a:solidFill>
                          <a:latin typeface="Calibri"/>
                        </a:rPr>
                        <a:t>2.71</a:t>
                      </a:r>
                    </a:p>
                  </a:txBody>
                  <a:tcPr anchor="ctr">
                    <a:solidFill>
                      <a:srgbClr val="F6F8F7"/>
                    </a:solidFill>
                  </a:tcPr>
                </a:tc>
                <a:tc>
                  <a:txBody>
                    <a:bodyPr/>
                    <a:lstStyle/>
                    <a:p>
                      <a:pPr algn="ctr"/>
                      <a:r>
                        <a:rPr sz="1350" b="0">
                          <a:solidFill>
                            <a:srgbClr val="1A1A1A"/>
                          </a:solidFill>
                          <a:latin typeface="Calibri"/>
                        </a:rPr>
                        <a:t>20.33</a:t>
                      </a:r>
                    </a:p>
                  </a:txBody>
                  <a:tcPr anchor="ctr">
                    <a:solidFill>
                      <a:srgbClr val="F6F8F7"/>
                    </a:solidFill>
                  </a:tcPr>
                </a:tc>
                <a:tc>
                  <a:txBody>
                    <a:bodyPr/>
                    <a:lstStyle/>
                    <a:p>
                      <a:pPr algn="ctr"/>
                      <a:r>
                        <a:rPr sz="1350" b="0">
                          <a:solidFill>
                            <a:srgbClr val="1A1A1A"/>
                          </a:solidFill>
                          <a:latin typeface="Calibri"/>
                        </a:rPr>
                        <a:t>5.81</a:t>
                      </a:r>
                    </a:p>
                  </a:txBody>
                  <a:tcPr anchor="ctr">
                    <a:solidFill>
                      <a:srgbClr val="F6F8F7"/>
                    </a:solidFill>
                  </a:tcPr>
                </a:tc>
                <a:tc>
                  <a:txBody>
                    <a:bodyPr/>
                    <a:lstStyle/>
                    <a:p>
                      <a:pPr algn="ctr"/>
                      <a:r>
                        <a:rPr sz="1350" b="0">
                          <a:solidFill>
                            <a:srgbClr val="1A1A1A"/>
                          </a:solidFill>
                          <a:latin typeface="Calibri"/>
                        </a:rPr>
                        <a:t>12.2</a:t>
                      </a:r>
                    </a:p>
                  </a:txBody>
                  <a:tcPr anchor="ctr">
                    <a:solidFill>
                      <a:srgbClr val="F6F8F7"/>
                    </a:solidFill>
                  </a:tcPr>
                </a:tc>
              </a:tr>
              <a:tr h="384048">
                <a:tc>
                  <a:txBody>
                    <a:bodyPr/>
                    <a:lstStyle/>
                    <a:p>
                      <a:pPr algn="l"/>
                      <a:r>
                        <a:rPr sz="1350" b="0">
                          <a:solidFill>
                            <a:srgbClr val="1A1A1A"/>
                          </a:solidFill>
                          <a:latin typeface="Calibri"/>
                        </a:rPr>
                        <a:t>DE</a:t>
                      </a:r>
                    </a:p>
                  </a:txBody>
                  <a:tcPr anchor="ctr">
                    <a:solidFill>
                      <a:srgbClr val="FFFFFF"/>
                    </a:solidFill>
                  </a:tcPr>
                </a:tc>
                <a:tc>
                  <a:txBody>
                    <a:bodyPr/>
                    <a:lstStyle/>
                    <a:p>
                      <a:pPr algn="ctr"/>
                      <a:r>
                        <a:rPr sz="1350" b="0">
                          <a:solidFill>
                            <a:srgbClr val="1A1A1A"/>
                          </a:solidFill>
                          <a:latin typeface="Calibri"/>
                        </a:rPr>
                        <a:t>21.31</a:t>
                      </a:r>
                    </a:p>
                  </a:txBody>
                  <a:tcPr anchor="ctr">
                    <a:solidFill>
                      <a:srgbClr val="FFFFFF"/>
                    </a:solidFill>
                  </a:tcPr>
                </a:tc>
                <a:tc>
                  <a:txBody>
                    <a:bodyPr/>
                    <a:lstStyle/>
                    <a:p>
                      <a:pPr algn="ctr"/>
                      <a:r>
                        <a:rPr sz="1350" b="0">
                          <a:solidFill>
                            <a:srgbClr val="1A1A1A"/>
                          </a:solidFill>
                          <a:latin typeface="Calibri"/>
                        </a:rPr>
                        <a:t>1.69</a:t>
                      </a:r>
                    </a:p>
                  </a:txBody>
                  <a:tcPr anchor="ctr">
                    <a:solidFill>
                      <a:srgbClr val="FFFFFF"/>
                    </a:solidFill>
                  </a:tcPr>
                </a:tc>
                <a:tc>
                  <a:txBody>
                    <a:bodyPr/>
                    <a:lstStyle/>
                    <a:p>
                      <a:pPr algn="ctr"/>
                      <a:r>
                        <a:rPr sz="1350" b="0">
                          <a:solidFill>
                            <a:srgbClr val="1A1A1A"/>
                          </a:solidFill>
                          <a:latin typeface="Calibri"/>
                        </a:rPr>
                        <a:t>29.0</a:t>
                      </a:r>
                    </a:p>
                  </a:txBody>
                  <a:tcPr anchor="ctr">
                    <a:solidFill>
                      <a:srgbClr val="FFFFFF"/>
                    </a:solidFill>
                  </a:tcPr>
                </a:tc>
                <a:tc>
                  <a:txBody>
                    <a:bodyPr/>
                    <a:lstStyle/>
                    <a:p>
                      <a:pPr algn="ctr"/>
                      <a:r>
                        <a:rPr sz="1350" b="0">
                          <a:solidFill>
                            <a:srgbClr val="1A1A1A"/>
                          </a:solidFill>
                          <a:latin typeface="Calibri"/>
                        </a:rPr>
                        <a:t>2.49</a:t>
                      </a:r>
                    </a:p>
                  </a:txBody>
                  <a:tcPr anchor="ctr">
                    <a:solidFill>
                      <a:srgbClr val="FFFFFF"/>
                    </a:solidFill>
                  </a:tcPr>
                </a:tc>
                <a:tc>
                  <a:txBody>
                    <a:bodyPr/>
                    <a:lstStyle/>
                    <a:p>
                      <a:pPr algn="ctr"/>
                      <a:r>
                        <a:rPr sz="1350" b="0">
                          <a:solidFill>
                            <a:srgbClr val="1A1A1A"/>
                          </a:solidFill>
                          <a:latin typeface="Calibri"/>
                        </a:rPr>
                        <a:t>13.7</a:t>
                      </a:r>
                    </a:p>
                  </a:txBody>
                  <a:tcPr anchor="ctr">
                    <a:solidFill>
                      <a:srgbClr val="FFFFFF"/>
                    </a:solidFill>
                  </a:tcPr>
                </a:tc>
              </a:tr>
              <a:tr h="384048">
                <a:tc>
                  <a:txBody>
                    <a:bodyPr/>
                    <a:lstStyle/>
                    <a:p>
                      <a:pPr algn="l"/>
                      <a:r>
                        <a:rPr sz="1350" b="0">
                          <a:solidFill>
                            <a:srgbClr val="1A1A1A"/>
                          </a:solidFill>
                          <a:latin typeface="Calibri"/>
                        </a:rPr>
                        <a:t>HHO</a:t>
                      </a:r>
                    </a:p>
                  </a:txBody>
                  <a:tcPr anchor="ctr">
                    <a:solidFill>
                      <a:srgbClr val="F6F8F7"/>
                    </a:solidFill>
                  </a:tcPr>
                </a:tc>
                <a:tc>
                  <a:txBody>
                    <a:bodyPr/>
                    <a:lstStyle/>
                    <a:p>
                      <a:pPr algn="ctr"/>
                      <a:r>
                        <a:rPr sz="1350" b="0">
                          <a:solidFill>
                            <a:srgbClr val="1A1A1A"/>
                          </a:solidFill>
                          <a:latin typeface="Calibri"/>
                        </a:rPr>
                        <a:t>6.94</a:t>
                      </a:r>
                    </a:p>
                  </a:txBody>
                  <a:tcPr anchor="ctr">
                    <a:solidFill>
                      <a:srgbClr val="F6F8F7"/>
                    </a:solidFill>
                  </a:tcPr>
                </a:tc>
                <a:tc>
                  <a:txBody>
                    <a:bodyPr/>
                    <a:lstStyle/>
                    <a:p>
                      <a:pPr algn="ctr"/>
                      <a:r>
                        <a:rPr sz="1350" b="0">
                          <a:solidFill>
                            <a:srgbClr val="1A1A1A"/>
                          </a:solidFill>
                          <a:latin typeface="Calibri"/>
                        </a:rPr>
                        <a:t>3.42</a:t>
                      </a:r>
                    </a:p>
                  </a:txBody>
                  <a:tcPr anchor="ctr">
                    <a:solidFill>
                      <a:srgbClr val="F6F8F7"/>
                    </a:solidFill>
                  </a:tcPr>
                </a:tc>
                <a:tc>
                  <a:txBody>
                    <a:bodyPr/>
                    <a:lstStyle/>
                    <a:p>
                      <a:pPr algn="ctr"/>
                      <a:r>
                        <a:rPr sz="1350" b="0">
                          <a:solidFill>
                            <a:srgbClr val="1A1A1A"/>
                          </a:solidFill>
                          <a:latin typeface="Calibri"/>
                        </a:rPr>
                        <a:t>0.0</a:t>
                      </a:r>
                    </a:p>
                  </a:txBody>
                  <a:tcPr anchor="ctr">
                    <a:solidFill>
                      <a:srgbClr val="F6F8F7"/>
                    </a:solidFill>
                  </a:tcPr>
                </a:tc>
                <a:tc>
                  <a:txBody>
                    <a:bodyPr/>
                    <a:lstStyle/>
                    <a:p>
                      <a:pPr algn="ctr"/>
                      <a:r>
                        <a:rPr sz="1350" b="0">
                          <a:solidFill>
                            <a:srgbClr val="1A1A1A"/>
                          </a:solidFill>
                          <a:latin typeface="Calibri"/>
                        </a:rPr>
                        <a:t>0.0</a:t>
                      </a:r>
                    </a:p>
                  </a:txBody>
                  <a:tcPr anchor="ctr">
                    <a:solidFill>
                      <a:srgbClr val="F6F8F7"/>
                    </a:solidFill>
                  </a:tcPr>
                </a:tc>
                <a:tc>
                  <a:txBody>
                    <a:bodyPr/>
                    <a:lstStyle/>
                    <a:p>
                      <a:pPr algn="ctr"/>
                      <a:r>
                        <a:rPr sz="1350" b="0">
                          <a:solidFill>
                            <a:srgbClr val="1A1A1A"/>
                          </a:solidFill>
                          <a:latin typeface="Calibri"/>
                        </a:rPr>
                        <a:t>5.9</a:t>
                      </a:r>
                    </a:p>
                  </a:txBody>
                  <a:tcPr anchor="ctr">
                    <a:solidFill>
                      <a:srgbClr val="F6F8F7"/>
                    </a:solidFill>
                  </a:tcPr>
                </a:tc>
              </a:tr>
              <a:tr h="384048">
                <a:tc>
                  <a:txBody>
                    <a:bodyPr/>
                    <a:lstStyle/>
                    <a:p>
                      <a:pPr algn="l"/>
                      <a:r>
                        <a:rPr sz="1350" b="0">
                          <a:solidFill>
                            <a:srgbClr val="1A1A1A"/>
                          </a:solidFill>
                          <a:latin typeface="Calibri"/>
                        </a:rPr>
                        <a:t>GA</a:t>
                      </a:r>
                    </a:p>
                  </a:txBody>
                  <a:tcPr anchor="ctr">
                    <a:solidFill>
                      <a:srgbClr val="FFFFFF"/>
                    </a:solidFill>
                  </a:tcPr>
                </a:tc>
                <a:tc>
                  <a:txBody>
                    <a:bodyPr/>
                    <a:lstStyle/>
                    <a:p>
                      <a:pPr algn="ctr"/>
                      <a:r>
                        <a:rPr sz="1350" b="0">
                          <a:solidFill>
                            <a:srgbClr val="1A1A1A"/>
                          </a:solidFill>
                          <a:latin typeface="Calibri"/>
                        </a:rPr>
                        <a:t>18.03</a:t>
                      </a:r>
                    </a:p>
                  </a:txBody>
                  <a:tcPr anchor="ctr">
                    <a:solidFill>
                      <a:srgbClr val="FFFFFF"/>
                    </a:solidFill>
                  </a:tcPr>
                </a:tc>
                <a:tc>
                  <a:txBody>
                    <a:bodyPr/>
                    <a:lstStyle/>
                    <a:p>
                      <a:pPr algn="ctr"/>
                      <a:r>
                        <a:rPr sz="1350" b="0">
                          <a:solidFill>
                            <a:srgbClr val="1A1A1A"/>
                          </a:solidFill>
                          <a:latin typeface="Calibri"/>
                        </a:rPr>
                        <a:t>2.46</a:t>
                      </a:r>
                    </a:p>
                  </a:txBody>
                  <a:tcPr anchor="ctr">
                    <a:solidFill>
                      <a:srgbClr val="FFFFFF"/>
                    </a:solidFill>
                  </a:tcPr>
                </a:tc>
                <a:tc>
                  <a:txBody>
                    <a:bodyPr/>
                    <a:lstStyle/>
                    <a:p>
                      <a:pPr algn="ctr"/>
                      <a:r>
                        <a:rPr sz="1350" b="0">
                          <a:solidFill>
                            <a:srgbClr val="1A1A1A"/>
                          </a:solidFill>
                          <a:latin typeface="Calibri"/>
                        </a:rPr>
                        <a:t>50.67</a:t>
                      </a:r>
                    </a:p>
                  </a:txBody>
                  <a:tcPr anchor="ctr">
                    <a:solidFill>
                      <a:srgbClr val="FFFFFF"/>
                    </a:solidFill>
                  </a:tcPr>
                </a:tc>
                <a:tc>
                  <a:txBody>
                    <a:bodyPr/>
                    <a:lstStyle/>
                    <a:p>
                      <a:pPr algn="ctr"/>
                      <a:r>
                        <a:rPr sz="1350" b="0">
                          <a:solidFill>
                            <a:srgbClr val="1A1A1A"/>
                          </a:solidFill>
                          <a:latin typeface="Calibri"/>
                        </a:rPr>
                        <a:t>4.78</a:t>
                      </a:r>
                    </a:p>
                  </a:txBody>
                  <a:tcPr anchor="ctr">
                    <a:solidFill>
                      <a:srgbClr val="FFFFFF"/>
                    </a:solidFill>
                  </a:tcPr>
                </a:tc>
                <a:tc>
                  <a:txBody>
                    <a:bodyPr/>
                    <a:lstStyle/>
                    <a:p>
                      <a:pPr algn="ctr"/>
                      <a:r>
                        <a:rPr sz="1350" b="0">
                          <a:solidFill>
                            <a:srgbClr val="1A1A1A"/>
                          </a:solidFill>
                          <a:latin typeface="Calibri"/>
                        </a:rPr>
                        <a:t>13.1</a:t>
                      </a:r>
                    </a:p>
                  </a:txBody>
                  <a:tcPr anchor="ctr">
                    <a:solidFill>
                      <a:srgbClr val="FFFFFF"/>
                    </a:solidFill>
                  </a:tcPr>
                </a:tc>
              </a:tr>
            </a:tbl>
          </a:graphicData>
        </a:graphic>
      </p:graphicFrame>
      <p:sp>
        <p:nvSpPr>
          <p:cNvPr id="7" name="TextBox 6"/>
          <p:cNvSpPr txBox="1"/>
          <p:nvPr/>
        </p:nvSpPr>
        <p:spPr>
          <a:xfrm>
            <a:off x="640080" y="5623560"/>
            <a:ext cx="10911535" cy="1005840"/>
          </a:xfrm>
          <a:prstGeom prst="rect">
            <a:avLst/>
          </a:prstGeom>
          <a:noFill/>
        </p:spPr>
        <p:txBody>
          <a:bodyPr wrap="square">
            <a:spAutoFit/>
          </a:bodyPr>
          <a:lstStyle/>
          <a:p>
            <a:r>
              <a:rPr sz="1400" b="1">
                <a:solidFill>
                  <a:srgbClr val="C87A1E"/>
                </a:solidFill>
                <a:latin typeface="Calibri"/>
              </a:rPr>
              <a:t>Zero variance is genuinely useful operationally — but I should be straight about the cause:</a:t>
            </a:r>
          </a:p>
          <a:p>
            <a:r>
              <a:rPr sz="1400" i="1">
                <a:solidFill>
                  <a:srgbClr val="C87A1E"/>
                </a:solidFill>
                <a:latin typeface="Calibri"/>
              </a:rPr>
              <a:t>the deterministic seed dominates in this setting — CA-WOA and carbon-greedy coincide exactly. Here the search adds little beyond the seed.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Scalability — 50 to 300 tasks</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5 seeds at each scale, same real data</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17</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1100"/>
              </a:spcAft>
            </a:pPr>
            <a:r>
              <a:rPr sz="1700" b="1">
                <a:solidFill>
                  <a:srgbClr val="1A1A1A"/>
                </a:solidFill>
                <a:latin typeface="Calibri"/>
              </a:rPr>
              <a:t>Experiments repeated at N = 50, 100, 200 and 300 tasks — 5 seeds at each scale</a:t>
            </a:r>
          </a:p>
          <a:p>
            <a:pPr>
              <a:spcBef>
                <a:spcPts val="600"/>
              </a:spcBef>
              <a:spcAft>
                <a:spcPts val="1100"/>
              </a:spcAft>
            </a:pPr>
            <a:r>
              <a:rPr sz="1700" b="1">
                <a:solidFill>
                  <a:srgbClr val="103D38"/>
                </a:solidFill>
                <a:latin typeface="Calibri"/>
              </a:rPr>
              <a:t>The finding holds throughout:</a:t>
            </a:r>
          </a:p>
          <a:p>
            <a:pPr lvl="1">
              <a:spcBef>
                <a:spcPts val="0"/>
              </a:spcBef>
              <a:spcAft>
                <a:spcPts val="600"/>
              </a:spcAft>
            </a:pPr>
            <a:r>
              <a:rPr sz="1500" b="0">
                <a:solidFill>
                  <a:srgbClr val="5F6B6A"/>
                </a:solidFill>
                <a:latin typeface="Calibri"/>
              </a:rPr>
              <a:t>–  In the host-capacity model CA-WOA gives the highest carbon reduction with 0% SLA at EVERY scale tested</a:t>
            </a:r>
          </a:p>
          <a:p>
            <a:pPr>
              <a:spcBef>
                <a:spcPts val="600"/>
              </a:spcBef>
              <a:spcAft>
                <a:spcPts val="1100"/>
              </a:spcAft>
            </a:pPr>
            <a:r>
              <a:rPr sz="1700" b="1">
                <a:solidFill>
                  <a:srgbClr val="C87A1E"/>
                </a:solidFill>
                <a:latin typeface="Calibri"/>
              </a:rPr>
              <a:t>The competitors' failure mode worsens as the workload grows</a:t>
            </a:r>
          </a:p>
          <a:p>
            <a:pPr lvl="1">
              <a:spcBef>
                <a:spcPts val="0"/>
              </a:spcBef>
              <a:spcAft>
                <a:spcPts val="600"/>
              </a:spcAft>
            </a:pPr>
            <a:r>
              <a:rPr sz="1500" b="0">
                <a:solidFill>
                  <a:srgbClr val="5F6B6A"/>
                </a:solidFill>
                <a:latin typeface="Calibri"/>
              </a:rPr>
              <a:t>–  GA, PSO and DE only match CA-WOA on carbon by violating more deadlines</a:t>
            </a:r>
          </a:p>
          <a:p>
            <a:pPr lvl="1">
              <a:spcBef>
                <a:spcPts val="0"/>
              </a:spcBef>
              <a:spcAft>
                <a:spcPts val="600"/>
              </a:spcAft>
            </a:pPr>
            <a:r>
              <a:rPr sz="1500" b="0">
                <a:solidFill>
                  <a:srgbClr val="5F6B6A"/>
                </a:solidFill>
                <a:latin typeface="Calibri"/>
              </a:rPr>
              <a:t>–  More tasks → more contention for the same limited clean slots → more misses</a:t>
            </a:r>
          </a:p>
          <a:p>
            <a:pPr>
              <a:spcBef>
                <a:spcPts val="600"/>
              </a:spcBef>
              <a:spcAft>
                <a:spcPts val="1100"/>
              </a:spcAft>
            </a:pPr>
            <a:r>
              <a:rPr sz="1700" b="1">
                <a:solidFill>
                  <a:srgbClr val="5F6B6A"/>
                </a:solidFill>
                <a:latin typeface="Calibri"/>
              </a:rPr>
              <a:t>Stated limitation:</a:t>
            </a:r>
          </a:p>
          <a:p>
            <a:pPr lvl="1">
              <a:spcBef>
                <a:spcPts val="0"/>
              </a:spcBef>
              <a:spcAft>
                <a:spcPts val="600"/>
              </a:spcAft>
            </a:pPr>
            <a:r>
              <a:rPr sz="1500" b="0">
                <a:solidFill>
                  <a:srgbClr val="5F6B6A"/>
                </a:solidFill>
                <a:latin typeface="Calibri"/>
              </a:rPr>
              <a:t>–  300 tasks is still far from datacentre scale (tens of thousands)</a:t>
            </a:r>
          </a:p>
          <a:p>
            <a:pPr lvl="1">
              <a:spcBef>
                <a:spcPts val="0"/>
              </a:spcBef>
              <a:spcAft>
                <a:spcPts val="600"/>
              </a:spcAft>
            </a:pPr>
            <a:r>
              <a:rPr sz="1500" b="0">
                <a:solidFill>
                  <a:srgbClr val="5F6B6A"/>
                </a:solidFill>
                <a:latin typeface="Calibri"/>
              </a:rPr>
              <a:t>–  This tests a trend, not production readiness — runtime beyond this is untested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Second arm — carbon-intensity forecasting</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Scheduling ahead needs a forecast, not just history</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18</a:t>
            </a:r>
          </a:p>
        </p:txBody>
      </p:sp>
      <p:graphicFrame>
        <p:nvGraphicFramePr>
          <p:cNvPr id="6" name="Table 5"/>
          <p:cNvGraphicFramePr>
            <a:graphicFrameLocks noGrp="1"/>
          </p:cNvGraphicFramePr>
          <p:nvPr/>
        </p:nvGraphicFramePr>
        <p:xfrm>
          <a:off x="640080" y="1645920"/>
          <a:ext cx="10911534" cy="2304288"/>
        </p:xfrm>
        <a:graphic>
          <a:graphicData uri="http://schemas.openxmlformats.org/drawingml/2006/table">
            <a:tbl>
              <a:tblPr firstRow="1" bandRow="1">
                <a:tableStyleId>{5C22544A-7EE6-4342-B048-85BDC9FD1C3A}</a:tableStyleId>
              </a:tblPr>
              <a:tblGrid>
                <a:gridCol w="4091825"/>
                <a:gridCol w="2318701"/>
                <a:gridCol w="4501008"/>
              </a:tblGrid>
              <a:tr h="384048">
                <a:tc>
                  <a:txBody>
                    <a:bodyPr/>
                    <a:lstStyle/>
                    <a:p>
                      <a:pPr algn="l"/>
                      <a:r>
                        <a:rPr sz="1300" b="1">
                          <a:solidFill>
                            <a:srgbClr val="FFFFFF"/>
                          </a:solidFill>
                          <a:latin typeface="Calibri"/>
                        </a:rPr>
                        <a:t>Forecast model</a:t>
                      </a:r>
                    </a:p>
                  </a:txBody>
                  <a:tcPr anchor="ctr">
                    <a:solidFill>
                      <a:srgbClr val="103D38"/>
                    </a:solidFill>
                  </a:tcPr>
                </a:tc>
                <a:tc>
                  <a:txBody>
                    <a:bodyPr/>
                    <a:lstStyle/>
                    <a:p>
                      <a:pPr algn="ctr"/>
                      <a:r>
                        <a:rPr sz="1300" b="1">
                          <a:solidFill>
                            <a:srgbClr val="FFFFFF"/>
                          </a:solidFill>
                          <a:latin typeface="Calibri"/>
                        </a:rPr>
                        <a:t>MAE  (gCO₂/kWh)  ↓</a:t>
                      </a:r>
                    </a:p>
                  </a:txBody>
                  <a:tcPr anchor="ctr">
                    <a:solidFill>
                      <a:srgbClr val="103D38"/>
                    </a:solidFill>
                  </a:tcPr>
                </a:tc>
                <a:tc>
                  <a:txBody>
                    <a:bodyPr/>
                    <a:lstStyle/>
                    <a:p>
                      <a:pPr algn="ctr"/>
                      <a:r>
                        <a:rPr sz="1300" b="1">
                          <a:solidFill>
                            <a:srgbClr val="FFFFFF"/>
                          </a:solidFill>
                          <a:latin typeface="Calibri"/>
                        </a:rPr>
                        <a:t>Note</a:t>
                      </a:r>
                    </a:p>
                  </a:txBody>
                  <a:tcPr anchor="ctr">
                    <a:solidFill>
                      <a:srgbClr val="103D38"/>
                    </a:solidFill>
                  </a:tcPr>
                </a:tc>
              </a:tr>
              <a:tr h="384048">
                <a:tc>
                  <a:txBody>
                    <a:bodyPr/>
                    <a:lstStyle/>
                    <a:p>
                      <a:pPr algn="l"/>
                      <a:r>
                        <a:rPr sz="1400" b="1">
                          <a:solidFill>
                            <a:srgbClr val="2E8B57"/>
                          </a:solidFill>
                          <a:latin typeface="Calibri"/>
                        </a:rPr>
                        <a:t>Ensemble  (CNN-LSTM + GRU + GBR)</a:t>
                      </a:r>
                    </a:p>
                  </a:txBody>
                  <a:tcPr anchor="ctr">
                    <a:solidFill>
                      <a:srgbClr val="E8F2EE"/>
                    </a:solidFill>
                  </a:tcPr>
                </a:tc>
                <a:tc>
                  <a:txBody>
                    <a:bodyPr/>
                    <a:lstStyle/>
                    <a:p>
                      <a:pPr algn="ctr"/>
                      <a:r>
                        <a:rPr sz="1400" b="1">
                          <a:solidFill>
                            <a:srgbClr val="2E8B57"/>
                          </a:solidFill>
                          <a:latin typeface="Calibri"/>
                        </a:rPr>
                        <a:t>3.385</a:t>
                      </a:r>
                    </a:p>
                  </a:txBody>
                  <a:tcPr anchor="ctr">
                    <a:solidFill>
                      <a:srgbClr val="E8F2EE"/>
                    </a:solidFill>
                  </a:tcPr>
                </a:tc>
                <a:tc>
                  <a:txBody>
                    <a:bodyPr/>
                    <a:lstStyle/>
                    <a:p>
                      <a:pPr algn="ctr"/>
                      <a:r>
                        <a:rPr sz="1400" b="1">
                          <a:solidFill>
                            <a:srgbClr val="2E8B57"/>
                          </a:solidFill>
                          <a:latin typeface="Calibri"/>
                        </a:rPr>
                        <a:t>best — consistent with EnsembleCI 2025</a:t>
                      </a:r>
                    </a:p>
                  </a:txBody>
                  <a:tcPr anchor="ctr">
                    <a:solidFill>
                      <a:srgbClr val="E8F2EE"/>
                    </a:solidFill>
                  </a:tcPr>
                </a:tc>
              </a:tr>
              <a:tr h="384048">
                <a:tc>
                  <a:txBody>
                    <a:bodyPr/>
                    <a:lstStyle/>
                    <a:p>
                      <a:pPr algn="l"/>
                      <a:r>
                        <a:rPr sz="1400" b="0">
                          <a:solidFill>
                            <a:srgbClr val="1A1A1A"/>
                          </a:solidFill>
                          <a:latin typeface="Calibri"/>
                        </a:rPr>
                        <a:t>Gradient Boosting</a:t>
                      </a:r>
                    </a:p>
                  </a:txBody>
                  <a:tcPr anchor="ctr">
                    <a:solidFill>
                      <a:srgbClr val="F6F8F7"/>
                    </a:solidFill>
                  </a:tcPr>
                </a:tc>
                <a:tc>
                  <a:txBody>
                    <a:bodyPr/>
                    <a:lstStyle/>
                    <a:p>
                      <a:pPr algn="ctr"/>
                      <a:r>
                        <a:rPr sz="1400" b="0">
                          <a:solidFill>
                            <a:srgbClr val="1A1A1A"/>
                          </a:solidFill>
                          <a:latin typeface="Calibri"/>
                        </a:rPr>
                        <a:t>3.509</a:t>
                      </a:r>
                    </a:p>
                  </a:txBody>
                  <a:tcPr anchor="ctr">
                    <a:solidFill>
                      <a:srgbClr val="F6F8F7"/>
                    </a:solidFill>
                  </a:tcPr>
                </a:tc>
                <a:tc>
                  <a:txBody>
                    <a:bodyPr/>
                    <a:lstStyle/>
                    <a:p>
                      <a:pPr algn="ctr"/>
                      <a:r>
                        <a:rPr sz="1400" b="0">
                          <a:solidFill>
                            <a:srgbClr val="1A1A1A"/>
                          </a:solidFill>
                          <a:latin typeface="Calibri"/>
                        </a:rPr>
                        <a:t>matches deep models at a fraction of the cost</a:t>
                      </a:r>
                    </a:p>
                  </a:txBody>
                  <a:tcPr anchor="ctr">
                    <a:solidFill>
                      <a:srgbClr val="F6F8F7"/>
                    </a:solidFill>
                  </a:tcPr>
                </a:tc>
              </a:tr>
              <a:tr h="384048">
                <a:tc>
                  <a:txBody>
                    <a:bodyPr/>
                    <a:lstStyle/>
                    <a:p>
                      <a:pPr algn="l"/>
                      <a:r>
                        <a:rPr sz="1400" b="0">
                          <a:solidFill>
                            <a:srgbClr val="1A1A1A"/>
                          </a:solidFill>
                          <a:latin typeface="Calibri"/>
                        </a:rPr>
                        <a:t>GRU</a:t>
                      </a:r>
                    </a:p>
                  </a:txBody>
                  <a:tcPr anchor="ctr">
                    <a:solidFill>
                      <a:srgbClr val="FFFFFF"/>
                    </a:solidFill>
                  </a:tcPr>
                </a:tc>
                <a:tc>
                  <a:txBody>
                    <a:bodyPr/>
                    <a:lstStyle/>
                    <a:p>
                      <a:pPr algn="ctr"/>
                      <a:r>
                        <a:rPr sz="1400" b="0">
                          <a:solidFill>
                            <a:srgbClr val="1A1A1A"/>
                          </a:solidFill>
                          <a:latin typeface="Calibri"/>
                        </a:rPr>
                        <a:t>3.673</a:t>
                      </a:r>
                    </a:p>
                  </a:txBody>
                  <a:tcPr anchor="ctr">
                    <a:solidFill>
                      <a:srgbClr val="FFFFFF"/>
                    </a:solidFill>
                  </a:tcPr>
                </a:tc>
                <a:tc>
                  <a:txBody>
                    <a:bodyPr/>
                    <a:lstStyle/>
                    <a:p>
                      <a:pPr algn="ctr"/>
                      <a:r>
                        <a:rPr sz="1400" b="0">
                          <a:solidFill>
                            <a:srgbClr val="1A1A1A"/>
                          </a:solidFill>
                          <a:latin typeface="Calibri"/>
                        </a:rPr>
                        <a:t/>
                      </a:r>
                    </a:p>
                  </a:txBody>
                  <a:tcPr anchor="ctr">
                    <a:solidFill>
                      <a:srgbClr val="FFFFFF"/>
                    </a:solidFill>
                  </a:tcPr>
                </a:tc>
              </a:tr>
              <a:tr h="384048">
                <a:tc>
                  <a:txBody>
                    <a:bodyPr/>
                    <a:lstStyle/>
                    <a:p>
                      <a:pPr algn="l"/>
                      <a:r>
                        <a:rPr sz="1400" b="0">
                          <a:solidFill>
                            <a:srgbClr val="1A1A1A"/>
                          </a:solidFill>
                          <a:latin typeface="Calibri"/>
                        </a:rPr>
                        <a:t>CNN-LSTM  (CarbonCast-style)</a:t>
                      </a:r>
                    </a:p>
                  </a:txBody>
                  <a:tcPr anchor="ctr">
                    <a:solidFill>
                      <a:srgbClr val="F6F8F7"/>
                    </a:solidFill>
                  </a:tcPr>
                </a:tc>
                <a:tc>
                  <a:txBody>
                    <a:bodyPr/>
                    <a:lstStyle/>
                    <a:p>
                      <a:pPr algn="ctr"/>
                      <a:r>
                        <a:rPr sz="1400" b="0">
                          <a:solidFill>
                            <a:srgbClr val="1A1A1A"/>
                          </a:solidFill>
                          <a:latin typeface="Calibri"/>
                        </a:rPr>
                        <a:t>3.735</a:t>
                      </a:r>
                    </a:p>
                  </a:txBody>
                  <a:tcPr anchor="ctr">
                    <a:solidFill>
                      <a:srgbClr val="F6F8F7"/>
                    </a:solidFill>
                  </a:tcPr>
                </a:tc>
                <a:tc>
                  <a:txBody>
                    <a:bodyPr/>
                    <a:lstStyle/>
                    <a:p>
                      <a:pPr algn="ctr"/>
                      <a:r>
                        <a:rPr sz="1400" b="0">
                          <a:solidFill>
                            <a:srgbClr val="1A1A1A"/>
                          </a:solidFill>
                          <a:latin typeface="Calibri"/>
                        </a:rPr>
                        <a:t>the literature's leading architecture</a:t>
                      </a:r>
                    </a:p>
                  </a:txBody>
                  <a:tcPr anchor="ctr">
                    <a:solidFill>
                      <a:srgbClr val="F6F8F7"/>
                    </a:solidFill>
                  </a:tcPr>
                </a:tc>
              </a:tr>
              <a:tr h="384048">
                <a:tc>
                  <a:txBody>
                    <a:bodyPr/>
                    <a:lstStyle/>
                    <a:p>
                      <a:pPr algn="l"/>
                      <a:r>
                        <a:rPr sz="1400" b="0">
                          <a:solidFill>
                            <a:srgbClr val="1A1A1A"/>
                          </a:solidFill>
                          <a:latin typeface="Calibri"/>
                        </a:rPr>
                        <a:t>LSTM</a:t>
                      </a:r>
                    </a:p>
                  </a:txBody>
                  <a:tcPr anchor="ctr">
                    <a:solidFill>
                      <a:srgbClr val="FFFFFF"/>
                    </a:solidFill>
                  </a:tcPr>
                </a:tc>
                <a:tc>
                  <a:txBody>
                    <a:bodyPr/>
                    <a:lstStyle/>
                    <a:p>
                      <a:pPr algn="ctr"/>
                      <a:r>
                        <a:rPr sz="1400" b="0">
                          <a:solidFill>
                            <a:srgbClr val="1A1A1A"/>
                          </a:solidFill>
                          <a:latin typeface="Calibri"/>
                        </a:rPr>
                        <a:t>3.865</a:t>
                      </a:r>
                    </a:p>
                  </a:txBody>
                  <a:tcPr anchor="ctr">
                    <a:solidFill>
                      <a:srgbClr val="FFFFFF"/>
                    </a:solidFill>
                  </a:tcPr>
                </a:tc>
                <a:tc>
                  <a:txBody>
                    <a:bodyPr/>
                    <a:lstStyle/>
                    <a:p>
                      <a:pPr algn="ctr"/>
                      <a:r>
                        <a:rPr sz="1400" b="0">
                          <a:solidFill>
                            <a:srgbClr val="1A1A1A"/>
                          </a:solidFill>
                          <a:latin typeface="Calibri"/>
                        </a:rPr>
                        <a:t/>
                      </a:r>
                    </a:p>
                  </a:txBody>
                  <a:tcPr anchor="ctr">
                    <a:solidFill>
                      <a:srgbClr val="FFFFFF"/>
                    </a:solidFill>
                  </a:tcPr>
                </a:tc>
              </a:tr>
            </a:tbl>
          </a:graphicData>
        </a:graphic>
      </p:graphicFrame>
      <p:sp>
        <p:nvSpPr>
          <p:cNvPr id="7" name="TextBox 6"/>
          <p:cNvSpPr txBox="1"/>
          <p:nvPr/>
        </p:nvSpPr>
        <p:spPr>
          <a:xfrm>
            <a:off x="640080" y="4160520"/>
            <a:ext cx="10911535" cy="2011680"/>
          </a:xfrm>
          <a:prstGeom prst="rect">
            <a:avLst/>
          </a:prstGeom>
          <a:noFill/>
        </p:spPr>
        <p:txBody>
          <a:bodyPr wrap="square">
            <a:spAutoFit/>
          </a:bodyPr>
          <a:lstStyle/>
          <a:p>
            <a:pPr>
              <a:spcAft>
                <a:spcPts val="1000"/>
              </a:spcAft>
            </a:pPr>
            <a:r>
              <a:rPr sz="1450" b="0" i="1">
                <a:solidFill>
                  <a:srgbClr val="1A1A1A"/>
                </a:solidFill>
                <a:latin typeface="Calibri"/>
              </a:rPr>
              <a:t>All five above are one run (advanced_forecast.py). A separate baseline run puts naive persistence at MAE 4.838 — every learned model beats it, so the signal is real.</a:t>
            </a:r>
          </a:p>
          <a:p>
            <a:pPr>
              <a:spcAft>
                <a:spcPts val="1000"/>
              </a:spcAft>
            </a:pPr>
            <a:r>
              <a:rPr sz="1450" b="1" i="1">
                <a:solidFill>
                  <a:srgbClr val="C87A1E"/>
                </a:solidFill>
                <a:latin typeface="Calibri"/>
              </a:rPr>
              <a:t>But I must not overstate the ranking: the same model varies by up to 0.245 MAE between runs, which is larger than the 0.124 gap between 1st and 2nd place.</a:t>
            </a:r>
          </a:p>
          <a:p>
            <a:pPr>
              <a:spcAft>
                <a:spcPts val="1000"/>
              </a:spcAft>
            </a:pPr>
            <a:r>
              <a:rPr sz="1450" b="0" i="1">
                <a:solidFill>
                  <a:srgbClr val="2E8B57"/>
                </a:solidFill>
                <a:latin typeface="Calibri"/>
              </a:rPr>
              <a:t>→ Defensible claim: learned models beat persistence, and they cluster between 3.4 and 3.9. NOT defensible: that the ensemble is significantly best on a single run.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A negative result worth reporting</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The Transformer did substantially worse</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19</a:t>
            </a:r>
          </a:p>
        </p:txBody>
      </p:sp>
      <p:graphicFrame>
        <p:nvGraphicFramePr>
          <p:cNvPr id="6" name="Table 5"/>
          <p:cNvGraphicFramePr>
            <a:graphicFrameLocks noGrp="1"/>
          </p:cNvGraphicFramePr>
          <p:nvPr/>
        </p:nvGraphicFramePr>
        <p:xfrm>
          <a:off x="640080" y="1691640"/>
          <a:ext cx="6766559" cy="1920240"/>
        </p:xfrm>
        <a:graphic>
          <a:graphicData uri="http://schemas.openxmlformats.org/drawingml/2006/table">
            <a:tbl>
              <a:tblPr firstRow="1" bandRow="1">
                <a:tableStyleId>{5C22544A-7EE6-4342-B048-85BDC9FD1C3A}</a:tableStyleId>
              </a:tblPr>
              <a:tblGrid>
                <a:gridCol w="4260426"/>
                <a:gridCol w="2506133"/>
              </a:tblGrid>
              <a:tr h="384048">
                <a:tc>
                  <a:txBody>
                    <a:bodyPr/>
                    <a:lstStyle/>
                    <a:p>
                      <a:pPr algn="l"/>
                      <a:r>
                        <a:rPr sz="1300" b="1">
                          <a:solidFill>
                            <a:srgbClr val="FFFFFF"/>
                          </a:solidFill>
                          <a:latin typeface="Calibri"/>
                        </a:rPr>
                        <a:t>Model</a:t>
                      </a:r>
                    </a:p>
                  </a:txBody>
                  <a:tcPr anchor="ctr">
                    <a:solidFill>
                      <a:srgbClr val="103D38"/>
                    </a:solidFill>
                  </a:tcPr>
                </a:tc>
                <a:tc>
                  <a:txBody>
                    <a:bodyPr/>
                    <a:lstStyle/>
                    <a:p>
                      <a:pPr algn="ctr"/>
                      <a:r>
                        <a:rPr sz="1300" b="1">
                          <a:solidFill>
                            <a:srgbClr val="FFFFFF"/>
                          </a:solidFill>
                          <a:latin typeface="Calibri"/>
                        </a:rPr>
                        <a:t>MAE  (gCO₂/kWh)  ↓</a:t>
                      </a:r>
                    </a:p>
                  </a:txBody>
                  <a:tcPr anchor="ctr">
                    <a:solidFill>
                      <a:srgbClr val="103D38"/>
                    </a:solidFill>
                  </a:tcPr>
                </a:tc>
              </a:tr>
              <a:tr h="384048">
                <a:tc>
                  <a:txBody>
                    <a:bodyPr/>
                    <a:lstStyle/>
                    <a:p>
                      <a:pPr algn="l"/>
                      <a:r>
                        <a:rPr sz="1500" b="1">
                          <a:solidFill>
                            <a:srgbClr val="2E8B57"/>
                          </a:solidFill>
                          <a:latin typeface="Calibri"/>
                        </a:rPr>
                        <a:t>Transformer (attention)</a:t>
                      </a:r>
                    </a:p>
                  </a:txBody>
                  <a:tcPr anchor="ctr">
                    <a:solidFill>
                      <a:srgbClr val="E8F2EE"/>
                    </a:solidFill>
                  </a:tcPr>
                </a:tc>
                <a:tc>
                  <a:txBody>
                    <a:bodyPr/>
                    <a:lstStyle/>
                    <a:p>
                      <a:pPr algn="ctr"/>
                      <a:r>
                        <a:rPr sz="1500" b="1">
                          <a:solidFill>
                            <a:srgbClr val="2E8B57"/>
                          </a:solidFill>
                          <a:latin typeface="Calibri"/>
                        </a:rPr>
                        <a:t>9.266</a:t>
                      </a:r>
                    </a:p>
                  </a:txBody>
                  <a:tcPr anchor="ctr">
                    <a:solidFill>
                      <a:srgbClr val="E8F2EE"/>
                    </a:solidFill>
                  </a:tcPr>
                </a:tc>
              </a:tr>
              <a:tr h="384048">
                <a:tc>
                  <a:txBody>
                    <a:bodyPr/>
                    <a:lstStyle/>
                    <a:p>
                      <a:pPr algn="l"/>
                      <a:r>
                        <a:rPr sz="1500" b="0">
                          <a:solidFill>
                            <a:srgbClr val="1A1A1A"/>
                          </a:solidFill>
                          <a:latin typeface="Calibri"/>
                        </a:rPr>
                        <a:t>LSTM</a:t>
                      </a:r>
                    </a:p>
                  </a:txBody>
                  <a:tcPr anchor="ctr">
                    <a:solidFill>
                      <a:srgbClr val="F6F8F7"/>
                    </a:solidFill>
                  </a:tcPr>
                </a:tc>
                <a:tc>
                  <a:txBody>
                    <a:bodyPr/>
                    <a:lstStyle/>
                    <a:p>
                      <a:pPr algn="ctr"/>
                      <a:r>
                        <a:rPr sz="1500" b="0">
                          <a:solidFill>
                            <a:srgbClr val="1A1A1A"/>
                          </a:solidFill>
                          <a:latin typeface="Calibri"/>
                        </a:rPr>
                        <a:t>3.620</a:t>
                      </a:r>
                    </a:p>
                  </a:txBody>
                  <a:tcPr anchor="ctr">
                    <a:solidFill>
                      <a:srgbClr val="F6F8F7"/>
                    </a:solidFill>
                  </a:tcPr>
                </a:tc>
              </a:tr>
              <a:tr h="384048">
                <a:tc>
                  <a:txBody>
                    <a:bodyPr/>
                    <a:lstStyle/>
                    <a:p>
                      <a:pPr algn="l"/>
                      <a:r>
                        <a:rPr sz="1500" b="0">
                          <a:solidFill>
                            <a:srgbClr val="1A1A1A"/>
                          </a:solidFill>
                          <a:latin typeface="Calibri"/>
                        </a:rPr>
                        <a:t>GRU</a:t>
                      </a:r>
                    </a:p>
                  </a:txBody>
                  <a:tcPr anchor="ctr">
                    <a:solidFill>
                      <a:srgbClr val="FFFFFF"/>
                    </a:solidFill>
                  </a:tcPr>
                </a:tc>
                <a:tc>
                  <a:txBody>
                    <a:bodyPr/>
                    <a:lstStyle/>
                    <a:p>
                      <a:pPr algn="ctr"/>
                      <a:r>
                        <a:rPr sz="1500" b="0">
                          <a:solidFill>
                            <a:srgbClr val="1A1A1A"/>
                          </a:solidFill>
                          <a:latin typeface="Calibri"/>
                        </a:rPr>
                        <a:t>3.512</a:t>
                      </a:r>
                    </a:p>
                  </a:txBody>
                  <a:tcPr anchor="ctr">
                    <a:solidFill>
                      <a:srgbClr val="FFFFFF"/>
                    </a:solidFill>
                  </a:tcPr>
                </a:tc>
              </a:tr>
              <a:tr h="384048">
                <a:tc>
                  <a:txBody>
                    <a:bodyPr/>
                    <a:lstStyle/>
                    <a:p>
                      <a:pPr algn="l"/>
                      <a:r>
                        <a:rPr sz="1500" b="0">
                          <a:solidFill>
                            <a:srgbClr val="1A1A1A"/>
                          </a:solidFill>
                          <a:latin typeface="Calibri"/>
                        </a:rPr>
                        <a:t>Gradient Boosting</a:t>
                      </a:r>
                    </a:p>
                  </a:txBody>
                  <a:tcPr anchor="ctr">
                    <a:solidFill>
                      <a:srgbClr val="F6F8F7"/>
                    </a:solidFill>
                  </a:tcPr>
                </a:tc>
                <a:tc>
                  <a:txBody>
                    <a:bodyPr/>
                    <a:lstStyle/>
                    <a:p>
                      <a:pPr algn="ctr"/>
                      <a:r>
                        <a:rPr sz="1500" b="0">
                          <a:solidFill>
                            <a:srgbClr val="1A1A1A"/>
                          </a:solidFill>
                          <a:latin typeface="Calibri"/>
                        </a:rPr>
                        <a:t>3.509</a:t>
                      </a:r>
                    </a:p>
                  </a:txBody>
                  <a:tcPr anchor="ctr">
                    <a:solidFill>
                      <a:srgbClr val="F6F8F7"/>
                    </a:solidFill>
                  </a:tcPr>
                </a:tc>
              </a:tr>
            </a:tbl>
          </a:graphicData>
        </a:graphic>
      </p:graphicFrame>
      <p:sp>
        <p:nvSpPr>
          <p:cNvPr id="7" name="TextBox 6"/>
          <p:cNvSpPr txBox="1"/>
          <p:nvPr/>
        </p:nvSpPr>
        <p:spPr>
          <a:xfrm>
            <a:off x="7772400" y="1737360"/>
            <a:ext cx="3840480" cy="3108960"/>
          </a:xfrm>
          <a:prstGeom prst="rect">
            <a:avLst/>
          </a:prstGeom>
          <a:noFill/>
        </p:spPr>
        <p:txBody>
          <a:bodyPr wrap="square">
            <a:spAutoFit/>
          </a:bodyPr>
          <a:lstStyle/>
          <a:p>
            <a:pPr>
              <a:spcAft>
                <a:spcPts val="1200"/>
              </a:spcAft>
            </a:pPr>
            <a:r>
              <a:rPr sz="1450" b="1">
                <a:solidFill>
                  <a:srgbClr val="B33A3A"/>
                </a:solidFill>
                <a:latin typeface="Calibri"/>
              </a:rPr>
              <a:t>~2.5× worse than the simple models</a:t>
            </a:r>
          </a:p>
          <a:p>
            <a:pPr>
              <a:spcAft>
                <a:spcPts val="1200"/>
              </a:spcAft>
            </a:pPr>
            <a:r>
              <a:rPr sz="1350" b="0">
                <a:solidFill>
                  <a:srgbClr val="1A1A1A"/>
                </a:solidFill>
                <a:latin typeface="Calibri"/>
              </a:rPr>
              <a:t>Most likely cause: data volume. Attention is data-hungry; a limited half-hourly window favours the inductive biases of recurrent and tree-based models.</a:t>
            </a:r>
          </a:p>
          <a:p>
            <a:pPr>
              <a:spcAft>
                <a:spcPts val="1200"/>
              </a:spcAft>
            </a:pPr>
            <a:r>
              <a:rPr sz="1350" b="0">
                <a:solidFill>
                  <a:srgbClr val="2E8B57"/>
                </a:solidFill>
                <a:latin typeface="Calibri"/>
              </a:rPr>
              <a:t>Reported rather than dropped — selective reporting of only what worked would be bad science, and this is useful to anyone forecasting carbon at similar scale.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Limitations and threats to validity</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Stated up front — every one of these is real</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20</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700"/>
              </a:spcAft>
            </a:pPr>
            <a:r>
              <a:rPr sz="1550" b="1">
                <a:solidFill>
                  <a:srgbClr val="1A1A1A"/>
                </a:solidFill>
                <a:latin typeface="Calibri"/>
              </a:rPr>
              <a:t>Simulation, not deployment — no real servers scheduled; linear power model is idealised</a:t>
            </a:r>
          </a:p>
          <a:p>
            <a:pPr>
              <a:spcBef>
                <a:spcPts val="600"/>
              </a:spcBef>
              <a:spcAft>
                <a:spcPts val="700"/>
              </a:spcAft>
            </a:pPr>
            <a:r>
              <a:rPr sz="1550" b="1">
                <a:solidFill>
                  <a:srgbClr val="C87A1E"/>
                </a:solidFill>
                <a:latin typeface="Calibri"/>
              </a:rPr>
              <a:t>Perfect carbon foreknowledge assumed in the scheduling experiments</a:t>
            </a:r>
          </a:p>
          <a:p>
            <a:pPr lvl="1">
              <a:spcBef>
                <a:spcPts val="0"/>
              </a:spcBef>
              <a:spcAft>
                <a:spcPts val="200"/>
              </a:spcAft>
            </a:pPr>
            <a:r>
              <a:rPr sz="1350" b="0">
                <a:solidFill>
                  <a:srgbClr val="5F6B6A"/>
                </a:solidFill>
                <a:latin typeface="Calibri"/>
              </a:rPr>
              <a:t>–  The forecasts are NOT yet fed back into the scheduler</a:t>
            </a:r>
          </a:p>
          <a:p>
            <a:pPr lvl="1">
              <a:spcBef>
                <a:spcPts val="0"/>
              </a:spcBef>
              <a:spcAft>
                <a:spcPts val="200"/>
              </a:spcAft>
            </a:pPr>
            <a:r>
              <a:rPr sz="1350" b="0">
                <a:solidFill>
                  <a:srgbClr val="5F6B6A"/>
                </a:solidFill>
                <a:latin typeface="Calibri"/>
              </a:rPr>
              <a:t>–  → the most important missing experiment in this thesis</a:t>
            </a:r>
          </a:p>
          <a:p>
            <a:pPr>
              <a:spcBef>
                <a:spcPts val="600"/>
              </a:spcBef>
              <a:spcAft>
                <a:spcPts val="700"/>
              </a:spcAft>
            </a:pPr>
            <a:r>
              <a:rPr sz="1550" b="1">
                <a:solidFill>
                  <a:srgbClr val="1A1A1A"/>
                </a:solidFill>
                <a:latin typeface="Calibri"/>
              </a:rPr>
              <a:t>Single grid, single region, three-day window — UK only</a:t>
            </a:r>
          </a:p>
          <a:p>
            <a:pPr lvl="1">
              <a:spcBef>
                <a:spcPts val="0"/>
              </a:spcBef>
              <a:spcAft>
                <a:spcPts val="200"/>
              </a:spcAft>
            </a:pPr>
            <a:r>
              <a:rPr sz="1350" b="0">
                <a:solidFill>
                  <a:srgbClr val="5F6B6A"/>
                </a:solidFill>
                <a:latin typeface="Calibri"/>
              </a:rPr>
              <a:t>–  A flatter grid would offer less headroom; results are not automatically portable</a:t>
            </a:r>
          </a:p>
          <a:p>
            <a:pPr>
              <a:spcBef>
                <a:spcPts val="600"/>
              </a:spcBef>
              <a:spcAft>
                <a:spcPts val="700"/>
              </a:spcAft>
            </a:pPr>
            <a:r>
              <a:rPr sz="1550" b="1">
                <a:solidFill>
                  <a:srgbClr val="1A1A1A"/>
                </a:solidFill>
                <a:latin typeface="Calibri"/>
              </a:rPr>
              <a:t>Weighted-sum objective reaches only the convex hull of the Pareto front</a:t>
            </a:r>
          </a:p>
          <a:p>
            <a:pPr lvl="1">
              <a:spcBef>
                <a:spcPts val="0"/>
              </a:spcBef>
              <a:spcAft>
                <a:spcPts val="200"/>
              </a:spcAft>
            </a:pPr>
            <a:r>
              <a:rPr sz="1350" b="0">
                <a:solidFill>
                  <a:srgbClr val="5F6B6A"/>
                </a:solidFill>
                <a:latin typeface="Calibri"/>
              </a:rPr>
              <a:t>–  The 0.4 / 0.3 / 0.3 weights are a reasoned judgement, not an optimised choice</a:t>
            </a:r>
          </a:p>
          <a:p>
            <a:pPr>
              <a:spcBef>
                <a:spcPts val="600"/>
              </a:spcBef>
              <a:spcAft>
                <a:spcPts val="700"/>
              </a:spcAft>
            </a:pPr>
            <a:r>
              <a:rPr sz="1550" b="1">
                <a:solidFill>
                  <a:srgbClr val="1A1A1A"/>
                </a:solidFill>
                <a:latin typeface="Calibri"/>
              </a:rPr>
              <a:t>Library-default hyperparameters — equal treatment, not optimal treatment</a:t>
            </a:r>
          </a:p>
          <a:p>
            <a:pPr>
              <a:spcBef>
                <a:spcPts val="600"/>
              </a:spcBef>
              <a:spcAft>
                <a:spcPts val="700"/>
              </a:spcAft>
            </a:pPr>
            <a:r>
              <a:rPr sz="1550" b="1">
                <a:solidFill>
                  <a:srgbClr val="C87A1E"/>
                </a:solidFill>
                <a:latin typeface="Calibri"/>
              </a:rPr>
              <a:t>In the 5-seed setting CA-WOA coincides exactly with carbon-greedy</a:t>
            </a:r>
          </a:p>
          <a:p>
            <a:pPr lvl="1">
              <a:spcBef>
                <a:spcPts val="0"/>
              </a:spcBef>
              <a:spcAft>
                <a:spcPts val="200"/>
              </a:spcAft>
            </a:pPr>
            <a:r>
              <a:rPr sz="1350" b="0">
                <a:solidFill>
                  <a:srgbClr val="5F6B6A"/>
                </a:solidFill>
                <a:latin typeface="Calibri"/>
              </a:rPr>
              <a:t>–  There the deterministic seed, not the search, is doing the work</a:t>
            </a:r>
          </a:p>
          <a:p>
            <a:pPr>
              <a:spcBef>
                <a:spcPts val="600"/>
              </a:spcBef>
              <a:spcAft>
                <a:spcPts val="700"/>
              </a:spcAft>
            </a:pPr>
            <a:r>
              <a:rPr sz="1550" b="1">
                <a:solidFill>
                  <a:srgbClr val="C87A1E"/>
                </a:solidFill>
                <a:latin typeface="Calibri"/>
              </a:rPr>
              <a:t>Forecast models were run once, not over repeated seeds</a:t>
            </a:r>
          </a:p>
          <a:p>
            <a:pPr lvl="1">
              <a:spcBef>
                <a:spcPts val="0"/>
              </a:spcBef>
              <a:spcAft>
                <a:spcPts val="200"/>
              </a:spcAft>
            </a:pPr>
            <a:r>
              <a:rPr sz="1350" b="0">
                <a:solidFill>
                  <a:srgbClr val="5F6B6A"/>
                </a:solidFill>
                <a:latin typeface="Calibri"/>
              </a:rPr>
              <a:t>–  Run-to-run variance (0.245 MAE) exceeds the 1st-to-2nd place gap (0.124) → ranking is weak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Contribution</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Precisely what I claim — and what I do not</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21</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900"/>
              </a:spcAft>
            </a:pPr>
            <a:r>
              <a:rPr sz="1600" b="1">
                <a:solidFill>
                  <a:srgbClr val="1A1A1A"/>
                </a:solidFill>
                <a:latin typeface="Calibri"/>
              </a:rPr>
              <a:t>1.  A new application, with a domain-specific enhancement</a:t>
            </a:r>
          </a:p>
          <a:p>
            <a:pPr lvl="1">
              <a:spcBef>
                <a:spcPts val="0"/>
              </a:spcBef>
              <a:spcAft>
                <a:spcPts val="400"/>
              </a:spcAft>
            </a:pPr>
            <a:r>
              <a:rPr sz="1400" b="0">
                <a:solidFill>
                  <a:srgbClr val="5F6B6A"/>
                </a:solidFill>
                <a:latin typeface="Calibri"/>
              </a:rPr>
              <a:t>–  WOA applied to carbon-aware temporal scheduling — no prior instance found in review</a:t>
            </a:r>
          </a:p>
          <a:p>
            <a:pPr lvl="1">
              <a:spcBef>
                <a:spcPts val="0"/>
              </a:spcBef>
              <a:spcAft>
                <a:spcPts val="400"/>
              </a:spcAft>
            </a:pPr>
            <a:r>
              <a:rPr sz="1400" b="0">
                <a:solidFill>
                  <a:srgbClr val="5F6B6A"/>
                </a:solidFill>
                <a:latin typeface="Calibri"/>
              </a:rPr>
              <a:t>–  Carbon-aware seeding: evidenced by 11.3% vs 1.2% for otherwise identical WOA</a:t>
            </a:r>
          </a:p>
          <a:p>
            <a:pPr>
              <a:spcBef>
                <a:spcPts val="600"/>
              </a:spcBef>
              <a:spcAft>
                <a:spcPts val="900"/>
              </a:spcAft>
            </a:pPr>
            <a:r>
              <a:rPr sz="1600" b="1">
                <a:solidFill>
                  <a:srgbClr val="1A1A1A"/>
                </a:solidFill>
                <a:latin typeface="Calibri"/>
              </a:rPr>
              <a:t>2.  A level-playing-field benchmark — arguably the more durable contribution</a:t>
            </a:r>
          </a:p>
          <a:p>
            <a:pPr lvl="1">
              <a:spcBef>
                <a:spcPts val="0"/>
              </a:spcBef>
              <a:spcAft>
                <a:spcPts val="400"/>
              </a:spcAft>
            </a:pPr>
            <a:r>
              <a:rPr sz="1400" b="0">
                <a:solidFill>
                  <a:srgbClr val="5F6B6A"/>
                </a:solidFill>
                <a:latin typeface="Calibri"/>
              </a:rPr>
              <a:t>–  6 metaheuristics + 3 baselines, one real workload, one objective, one budget</a:t>
            </a:r>
          </a:p>
          <a:p>
            <a:pPr lvl="1">
              <a:spcBef>
                <a:spcPts val="0"/>
              </a:spcBef>
              <a:spcAft>
                <a:spcPts val="400"/>
              </a:spcAft>
            </a:pPr>
            <a:r>
              <a:rPr sz="1400" b="0">
                <a:solidFill>
                  <a:srgbClr val="5F6B6A"/>
                </a:solidFill>
                <a:latin typeface="Calibri"/>
              </a:rPr>
              <a:t>–  Reusable by others regardless of what they make of CA-WOA itself</a:t>
            </a:r>
          </a:p>
          <a:p>
            <a:pPr>
              <a:spcBef>
                <a:spcPts val="600"/>
              </a:spcBef>
              <a:spcAft>
                <a:spcPts val="900"/>
              </a:spcAft>
            </a:pPr>
            <a:r>
              <a:rPr sz="1600" b="1">
                <a:solidFill>
                  <a:srgbClr val="1A1A1A"/>
                </a:solidFill>
                <a:latin typeface="Calibri"/>
              </a:rPr>
              <a:t>3.  A reproducible artefact</a:t>
            </a:r>
          </a:p>
          <a:p>
            <a:pPr lvl="1">
              <a:spcBef>
                <a:spcPts val="0"/>
              </a:spcBef>
              <a:spcAft>
                <a:spcPts val="400"/>
              </a:spcAft>
            </a:pPr>
            <a:r>
              <a:rPr sz="1400" b="0">
                <a:solidFill>
                  <a:srgbClr val="5F6B6A"/>
                </a:solidFill>
                <a:latin typeface="Calibri"/>
              </a:rPr>
              <a:t>–  Real data throughout · fixed seeds · runs end-to-end in Colab · verified citations</a:t>
            </a:r>
          </a:p>
          <a:p>
            <a:pPr>
              <a:spcBef>
                <a:spcPts val="600"/>
              </a:spcBef>
              <a:spcAft>
                <a:spcPts val="900"/>
              </a:spcAft>
            </a:pPr>
            <a:r>
              <a:rPr sz="1600" b="1">
                <a:solidFill>
                  <a:srgbClr val="5F6B6A"/>
                </a:solidFill>
                <a:latin typeface="Calibri"/>
              </a:rPr>
              <a:t>What I do not claim:</a:t>
            </a:r>
          </a:p>
          <a:p>
            <a:pPr lvl="1">
              <a:spcBef>
                <a:spcPts val="0"/>
              </a:spcBef>
              <a:spcAft>
                <a:spcPts val="400"/>
              </a:spcAft>
            </a:pPr>
            <a:r>
              <a:rPr sz="1400" b="0">
                <a:solidFill>
                  <a:srgbClr val="5F6B6A"/>
                </a:solidFill>
                <a:latin typeface="Calibri"/>
              </a:rPr>
              <a:t>–  Not a new metaheuristic · not deployed in production · not yet robust to forecast error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Future work</a:t>
            </a:r>
          </a:p>
        </p:txBody>
      </p:sp>
      <p:sp>
        <p:nvSpPr>
          <p:cNvPr id="3" name="TextBox 2"/>
          <p:cNvSpPr txBox="1"/>
          <p:nvPr/>
        </p:nvSpPr>
        <p:spPr>
          <a:xfrm>
            <a:off x="566928" y="868680"/>
            <a:ext cx="11094415" cy="329184"/>
          </a:xfrm>
          <a:prstGeom prst="rect">
            <a:avLst/>
          </a:prstGeom>
          <a:noFill/>
        </p:spPr>
        <p:txBody>
          <a:bodyPr wrap="square">
            <a:spAutoFit/>
          </a:bodyPr>
          <a:lstStyle/>
          <a:p>
            <a:pPr algn="l">
              <a:spcAft>
                <a:spcPts val="0"/>
              </a:spcAft>
            </a:pPr>
            <a:r>
              <a:rPr sz="1400" b="0" i="1">
                <a:solidFill>
                  <a:srgbClr val="5F6B6A"/>
                </a:solidFill>
                <a:latin typeface="Calibri"/>
              </a:rPr>
              <a:t>In the order I would actually do them</a:t>
            </a:r>
          </a:p>
        </p:txBody>
      </p:sp>
      <p:sp>
        <p:nvSpPr>
          <p:cNvPr id="4" name="Rectangle 3"/>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22</a:t>
            </a:r>
          </a:p>
        </p:txBody>
      </p:sp>
      <p:sp>
        <p:nvSpPr>
          <p:cNvPr id="6" name="TextBox 5"/>
          <p:cNvSpPr txBox="1"/>
          <p:nvPr/>
        </p:nvSpPr>
        <p:spPr>
          <a:xfrm>
            <a:off x="685800" y="1600200"/>
            <a:ext cx="10820095" cy="4617720"/>
          </a:xfrm>
          <a:prstGeom prst="rect">
            <a:avLst/>
          </a:prstGeom>
          <a:noFill/>
        </p:spPr>
        <p:txBody>
          <a:bodyPr wrap="square">
            <a:spAutoFit/>
          </a:bodyPr>
          <a:lstStyle/>
          <a:p>
            <a:pPr>
              <a:spcBef>
                <a:spcPts val="600"/>
              </a:spcBef>
              <a:spcAft>
                <a:spcPts val="1100"/>
              </a:spcAft>
            </a:pPr>
            <a:r>
              <a:rPr sz="1700" b="1">
                <a:solidFill>
                  <a:srgbClr val="2E8B57"/>
                </a:solidFill>
                <a:latin typeface="Calibri"/>
              </a:rPr>
              <a:t>1.  Close the loop — feed forecasts into the scheduler</a:t>
            </a:r>
          </a:p>
          <a:p>
            <a:pPr lvl="1">
              <a:spcBef>
                <a:spcPts val="0"/>
              </a:spcBef>
              <a:spcAft>
                <a:spcPts val="600"/>
              </a:spcAft>
            </a:pPr>
            <a:r>
              <a:rPr sz="1500" b="0">
                <a:solidFill>
                  <a:srgbClr val="5F6B6A"/>
                </a:solidFill>
                <a:latin typeface="Calibri"/>
              </a:rPr>
              <a:t>–  Measure how much carbon saving survives realistic forecast error</a:t>
            </a:r>
          </a:p>
          <a:p>
            <a:pPr lvl="1">
              <a:spcBef>
                <a:spcPts val="0"/>
              </a:spcBef>
              <a:spcAft>
                <a:spcPts val="600"/>
              </a:spcAft>
            </a:pPr>
            <a:r>
              <a:rPr sz="1500" b="0">
                <a:solidFill>
                  <a:srgbClr val="5F6B6A"/>
                </a:solidFill>
                <a:latin typeface="Calibri"/>
              </a:rPr>
              <a:t>–  Turns 'works with an oracle' into 'works' — everything else is secondary</a:t>
            </a:r>
          </a:p>
          <a:p>
            <a:pPr>
              <a:spcBef>
                <a:spcPts val="600"/>
              </a:spcBef>
              <a:spcAft>
                <a:spcPts val="1100"/>
              </a:spcAft>
            </a:pPr>
            <a:r>
              <a:rPr sz="1700" b="1">
                <a:solidFill>
                  <a:srgbClr val="1A1A1A"/>
                </a:solidFill>
                <a:latin typeface="Calibri"/>
              </a:rPr>
              <a:t>2.  True multi-objective optimisation — NSGA-II / MOEA/D</a:t>
            </a:r>
          </a:p>
          <a:p>
            <a:pPr lvl="1">
              <a:spcBef>
                <a:spcPts val="0"/>
              </a:spcBef>
              <a:spcAft>
                <a:spcPts val="600"/>
              </a:spcAft>
            </a:pPr>
            <a:r>
              <a:rPr sz="1500" b="0">
                <a:solidFill>
                  <a:srgbClr val="5F6B6A"/>
                </a:solidFill>
                <a:latin typeface="Calibri"/>
              </a:rPr>
              <a:t>–  Produce a Pareto front so the operator chooses the trade-off, not me</a:t>
            </a:r>
          </a:p>
          <a:p>
            <a:pPr>
              <a:spcBef>
                <a:spcPts val="600"/>
              </a:spcBef>
              <a:spcAft>
                <a:spcPts val="1100"/>
              </a:spcAft>
            </a:pPr>
            <a:r>
              <a:rPr sz="1700" b="1">
                <a:solidFill>
                  <a:srgbClr val="1A1A1A"/>
                </a:solidFill>
                <a:latin typeface="Calibri"/>
              </a:rPr>
              <a:t>3.  Spatial as well as temporal shifting</a:t>
            </a:r>
          </a:p>
          <a:p>
            <a:pPr lvl="1">
              <a:spcBef>
                <a:spcPts val="0"/>
              </a:spcBef>
              <a:spcAft>
                <a:spcPts val="600"/>
              </a:spcAft>
            </a:pPr>
            <a:r>
              <a:rPr sz="1500" b="0">
                <a:solidFill>
                  <a:srgbClr val="5F6B6A"/>
                </a:solidFill>
                <a:latin typeface="Calibri"/>
              </a:rPr>
              <a:t>–  Multiple regions with different generation mixes → considerably more headroom</a:t>
            </a:r>
          </a:p>
          <a:p>
            <a:pPr>
              <a:spcBef>
                <a:spcPts val="600"/>
              </a:spcBef>
              <a:spcAft>
                <a:spcPts val="1100"/>
              </a:spcAft>
            </a:pPr>
            <a:r>
              <a:rPr sz="1700" b="1">
                <a:solidFill>
                  <a:srgbClr val="1A1A1A"/>
                </a:solidFill>
                <a:latin typeface="Calibri"/>
              </a:rPr>
              <a:t>4.  Scale to tens of thousands of tasks — will likely require a different encoding</a:t>
            </a:r>
          </a:p>
          <a:p>
            <a:pPr>
              <a:spcBef>
                <a:spcPts val="600"/>
              </a:spcBef>
              <a:spcAft>
                <a:spcPts val="1100"/>
              </a:spcAft>
            </a:pPr>
            <a:r>
              <a:rPr sz="1700" b="1">
                <a:solidFill>
                  <a:srgbClr val="1A1A1A"/>
                </a:solidFill>
                <a:latin typeface="Calibri"/>
              </a:rPr>
              <a:t>5.  On-site renewables and battery storage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Conclusion</a:t>
            </a:r>
          </a:p>
        </p:txBody>
      </p:sp>
      <p:sp>
        <p:nvSpPr>
          <p:cNvPr id="3" name="Rectangle 2"/>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23</a:t>
            </a:r>
          </a:p>
        </p:txBody>
      </p:sp>
      <p:sp>
        <p:nvSpPr>
          <p:cNvPr id="5" name="TextBox 4"/>
          <p:cNvSpPr txBox="1"/>
          <p:nvPr/>
        </p:nvSpPr>
        <p:spPr>
          <a:xfrm>
            <a:off x="685800" y="1691640"/>
            <a:ext cx="10820095" cy="4526280"/>
          </a:xfrm>
          <a:prstGeom prst="rect">
            <a:avLst/>
          </a:prstGeom>
          <a:noFill/>
        </p:spPr>
        <p:txBody>
          <a:bodyPr wrap="square">
            <a:spAutoFit/>
          </a:bodyPr>
          <a:lstStyle/>
          <a:p>
            <a:pPr>
              <a:spcBef>
                <a:spcPts val="600"/>
              </a:spcBef>
              <a:spcAft>
                <a:spcPts val="1200"/>
              </a:spcAft>
            </a:pPr>
            <a:r>
              <a:rPr sz="1700" b="1">
                <a:solidFill>
                  <a:srgbClr val="1A1A1A"/>
                </a:solidFill>
                <a:latin typeface="Calibri"/>
              </a:rPr>
              <a:t>Carbon intensity varies; much cloud work is deferrable — together, a real and untapped lever</a:t>
            </a:r>
          </a:p>
          <a:p>
            <a:pPr>
              <a:spcBef>
                <a:spcPts val="600"/>
              </a:spcBef>
              <a:spcAft>
                <a:spcPts val="1200"/>
              </a:spcAft>
            </a:pPr>
            <a:r>
              <a:rPr sz="1700" b="1">
                <a:solidFill>
                  <a:srgbClr val="1A1A1A"/>
                </a:solidFill>
                <a:latin typeface="Calibri"/>
              </a:rPr>
              <a:t>CA-WOA: first application of WOA to carbon-aware scheduling, enhanced with carbon-aware seeding</a:t>
            </a:r>
          </a:p>
          <a:p>
            <a:pPr>
              <a:spcBef>
                <a:spcPts val="600"/>
              </a:spcBef>
              <a:spcAft>
                <a:spcPts val="1200"/>
              </a:spcAft>
            </a:pPr>
            <a:r>
              <a:rPr sz="1700" b="1">
                <a:solidFill>
                  <a:srgbClr val="1A1A1A"/>
                </a:solidFill>
                <a:latin typeface="Calibri"/>
              </a:rPr>
              <a:t>Evaluated against 5 metaheuristics and 3 baselines on real Google + real UK grid data</a:t>
            </a:r>
          </a:p>
          <a:p>
            <a:pPr>
              <a:spcBef>
                <a:spcPts val="600"/>
              </a:spcBef>
              <a:spcAft>
                <a:spcPts val="1200"/>
              </a:spcAft>
            </a:pPr>
            <a:r>
              <a:rPr sz="1700" b="1">
                <a:solidFill>
                  <a:srgbClr val="2E8B57"/>
                </a:solidFill>
                <a:latin typeface="Calibri"/>
              </a:rPr>
              <a:t>Highest carbon reduction of any method that met EVERY deadline</a:t>
            </a:r>
          </a:p>
          <a:p>
            <a:pPr lvl="1">
              <a:spcBef>
                <a:spcPts val="0"/>
              </a:spcBef>
              <a:spcAft>
                <a:spcPts val="700"/>
              </a:spcAft>
            </a:pPr>
            <a:r>
              <a:rPr sz="1500" b="0">
                <a:solidFill>
                  <a:srgbClr val="5F6B6A"/>
                </a:solidFill>
                <a:latin typeface="Calibri"/>
              </a:rPr>
              <a:t>–  83.25% in the host-capacity model · 11.3% from pure temporal shifting · 0% SLA</a:t>
            </a:r>
          </a:p>
          <a:p>
            <a:pPr lvl="1">
              <a:spcBef>
                <a:spcPts val="0"/>
              </a:spcBef>
              <a:spcAft>
                <a:spcPts val="700"/>
              </a:spcAft>
            </a:pPr>
            <a:r>
              <a:rPr sz="1500" b="0">
                <a:solidFill>
                  <a:srgbClr val="5F6B6A"/>
                </a:solidFill>
                <a:latin typeface="Calibri"/>
              </a:rPr>
              <a:t>–  Held at every scale tested (50 → 300 tasks)</a:t>
            </a:r>
          </a:p>
          <a:p>
            <a:pPr lvl="1">
              <a:spcBef>
                <a:spcPts val="0"/>
              </a:spcBef>
              <a:spcAft>
                <a:spcPts val="700"/>
              </a:spcAft>
            </a:pPr>
            <a:r>
              <a:rPr sz="1500" b="0">
                <a:solidFill>
                  <a:srgbClr val="5F6B6A"/>
                </a:solidFill>
                <a:latin typeface="Calibri"/>
              </a:rPr>
              <a:t>–  The seeding is what does it — standard WOA on identical terms reaches only 1.2%</a:t>
            </a:r>
          </a:p>
          <a:p>
            <a:pPr>
              <a:spcBef>
                <a:spcPts val="600"/>
              </a:spcBef>
              <a:spcAft>
                <a:spcPts val="1200"/>
              </a:spcAft>
            </a:pPr>
            <a:r>
              <a:rPr sz="1700" b="1">
                <a:solidFill>
                  <a:srgbClr val="5F6B6A"/>
                </a:solidFill>
                <a:latin typeface="Calibri"/>
              </a:rPr>
              <a:t>A simulation with an oracle carbon signal — closing that gap is the immediate next step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D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468880"/>
            <a:ext cx="9997135" cy="1097280"/>
          </a:xfrm>
          <a:prstGeom prst="rect">
            <a:avLst/>
          </a:prstGeom>
          <a:noFill/>
        </p:spPr>
        <p:txBody>
          <a:bodyPr wrap="square">
            <a:spAutoFit/>
          </a:bodyPr>
          <a:lstStyle/>
          <a:p>
            <a:pPr algn="l">
              <a:spcAft>
                <a:spcPts val="0"/>
              </a:spcAft>
            </a:pPr>
            <a:r>
              <a:rPr sz="4600" b="1" i="0">
                <a:solidFill>
                  <a:srgbClr val="FFFFFF"/>
                </a:solidFill>
                <a:latin typeface="Calibri"/>
              </a:rPr>
              <a:t>Thank you</a:t>
            </a:r>
          </a:p>
        </p:txBody>
      </p:sp>
      <p:sp>
        <p:nvSpPr>
          <p:cNvPr id="4" name="TextBox 3"/>
          <p:cNvSpPr txBox="1"/>
          <p:nvPr/>
        </p:nvSpPr>
        <p:spPr>
          <a:xfrm>
            <a:off x="1133856" y="3520440"/>
            <a:ext cx="9997135" cy="1280160"/>
          </a:xfrm>
          <a:prstGeom prst="rect">
            <a:avLst/>
          </a:prstGeom>
          <a:noFill/>
        </p:spPr>
        <p:txBody>
          <a:bodyPr wrap="square">
            <a:spAutoFit/>
          </a:bodyPr>
          <a:lstStyle/>
          <a:p>
            <a:pPr algn="l">
              <a:spcAft>
                <a:spcPts val="0"/>
              </a:spcAft>
            </a:pPr>
            <a:r>
              <a:rPr sz="1800" b="0" i="0">
                <a:solidFill>
                  <a:srgbClr val="B8D8CC"/>
                </a:solidFill>
                <a:latin typeface="Calibri"/>
              </a:rPr>
              <a:t>Questions welcome.
Navaneetha Thalakokkula  ·  MSc Cloud Computing
National College of Ireland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D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651760"/>
            <a:ext cx="9997135" cy="457200"/>
          </a:xfrm>
          <a:prstGeom prst="rect">
            <a:avLst/>
          </a:prstGeom>
          <a:noFill/>
        </p:spPr>
        <p:txBody>
          <a:bodyPr wrap="square">
            <a:spAutoFit/>
          </a:bodyPr>
          <a:lstStyle/>
          <a:p>
            <a:pPr algn="l">
              <a:spcAft>
                <a:spcPts val="0"/>
              </a:spcAft>
            </a:pPr>
            <a:r>
              <a:rPr sz="1500" b="1" i="0">
                <a:solidFill>
                  <a:srgbClr val="7BC96F"/>
                </a:solidFill>
                <a:latin typeface="Calibri"/>
              </a:rPr>
              <a:t>ANTICIPATED QUESTIONS</a:t>
            </a:r>
          </a:p>
        </p:txBody>
      </p:sp>
      <p:sp>
        <p:nvSpPr>
          <p:cNvPr id="4" name="TextBox 3"/>
          <p:cNvSpPr txBox="1"/>
          <p:nvPr/>
        </p:nvSpPr>
        <p:spPr>
          <a:xfrm>
            <a:off x="1097280" y="3108960"/>
            <a:ext cx="9997135" cy="1097280"/>
          </a:xfrm>
          <a:prstGeom prst="rect">
            <a:avLst/>
          </a:prstGeom>
          <a:noFill/>
        </p:spPr>
        <p:txBody>
          <a:bodyPr wrap="square">
            <a:spAutoFit/>
          </a:bodyPr>
          <a:lstStyle/>
          <a:p>
            <a:pPr algn="l">
              <a:spcAft>
                <a:spcPts val="0"/>
              </a:spcAft>
            </a:pPr>
            <a:r>
              <a:rPr sz="4000" b="1" i="0">
                <a:solidFill>
                  <a:srgbClr val="FFFFFF"/>
                </a:solidFill>
                <a:latin typeface="Calibri"/>
              </a:rPr>
              <a:t>Backup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Backup — anticipated questions (1 of 2)</a:t>
            </a:r>
          </a:p>
        </p:txBody>
      </p:sp>
      <p:sp>
        <p:nvSpPr>
          <p:cNvPr id="3" name="Rectangle 2"/>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24</a:t>
            </a:r>
          </a:p>
        </p:txBody>
      </p:sp>
      <p:sp>
        <p:nvSpPr>
          <p:cNvPr id="5" name="TextBox 4"/>
          <p:cNvSpPr txBox="1"/>
          <p:nvPr/>
        </p:nvSpPr>
        <p:spPr>
          <a:xfrm>
            <a:off x="685800" y="1600200"/>
            <a:ext cx="10820095" cy="4617720"/>
          </a:xfrm>
          <a:prstGeom prst="rect">
            <a:avLst/>
          </a:prstGeom>
          <a:noFill/>
        </p:spPr>
        <p:txBody>
          <a:bodyPr wrap="square">
            <a:spAutoFit/>
          </a:bodyPr>
          <a:lstStyle/>
          <a:p>
            <a:pPr>
              <a:spcBef>
                <a:spcPts val="600"/>
              </a:spcBef>
              <a:spcAft>
                <a:spcPts val="800"/>
              </a:spcAft>
            </a:pPr>
            <a:r>
              <a:rPr sz="1550" b="1">
                <a:solidFill>
                  <a:srgbClr val="1A1A1A"/>
                </a:solidFill>
                <a:latin typeface="Calibri"/>
              </a:rPr>
              <a:t>'Seeding isn't novel — HAPSO already does ACO initialisation.'</a:t>
            </a:r>
          </a:p>
          <a:p>
            <a:pPr lvl="1">
              <a:spcBef>
                <a:spcPts val="0"/>
              </a:spcBef>
              <a:spcAft>
                <a:spcPts val="300"/>
              </a:spcAft>
            </a:pPr>
            <a:r>
              <a:rPr sz="1350" b="0">
                <a:solidFill>
                  <a:srgbClr val="5F6B6A"/>
                </a:solidFill>
                <a:latin typeface="Calibri"/>
              </a:rPr>
              <a:t>–  Agreed, and I cite it. The technique is not new in general; the carbon-specific seed construction and its application to WOA on this problem is. I claim an application, not an invention.</a:t>
            </a:r>
          </a:p>
          <a:p>
            <a:pPr>
              <a:spcBef>
                <a:spcPts val="600"/>
              </a:spcBef>
              <a:spcAft>
                <a:spcPts val="800"/>
              </a:spcAft>
            </a:pPr>
            <a:r>
              <a:rPr sz="1550" b="1">
                <a:solidFill>
                  <a:srgbClr val="1A1A1A"/>
                </a:solidFill>
                <a:latin typeface="Calibri"/>
              </a:rPr>
              <a:t>'GA reduced more carbon than your method.'</a:t>
            </a:r>
          </a:p>
          <a:p>
            <a:pPr lvl="1">
              <a:spcBef>
                <a:spcPts val="0"/>
              </a:spcBef>
              <a:spcAft>
                <a:spcPts val="300"/>
              </a:spcAft>
            </a:pPr>
            <a:r>
              <a:rPr sz="1350" b="0">
                <a:solidFill>
                  <a:srgbClr val="5F6B6A"/>
                </a:solidFill>
                <a:latin typeface="Calibri"/>
              </a:rPr>
              <a:t>–  Yes — at 56.67% SLA violations. My claim is restricted to methods that meet every deadline. If deadlines are optional, GA wins and I say so on the slide.</a:t>
            </a:r>
          </a:p>
          <a:p>
            <a:pPr>
              <a:spcBef>
                <a:spcPts val="600"/>
              </a:spcBef>
              <a:spcAft>
                <a:spcPts val="800"/>
              </a:spcAft>
            </a:pPr>
            <a:r>
              <a:rPr sz="1550" b="1">
                <a:solidFill>
                  <a:srgbClr val="1A1A1A"/>
                </a:solidFill>
                <a:latin typeface="Calibri"/>
              </a:rPr>
              <a:t>'Why 0.4 / 0.3 / 0.3?'</a:t>
            </a:r>
          </a:p>
          <a:p>
            <a:pPr lvl="1">
              <a:spcBef>
                <a:spcPts val="0"/>
              </a:spcBef>
              <a:spcAft>
                <a:spcPts val="300"/>
              </a:spcAft>
            </a:pPr>
            <a:r>
              <a:rPr sz="1350" b="0">
                <a:solidFill>
                  <a:srgbClr val="5F6B6A"/>
                </a:solidFill>
                <a:latin typeface="Calibri"/>
              </a:rPr>
              <a:t>–  Carbon highest because it's the thesis objective; the rest split evenly for lack of a principled basis. Not claimed optimal — a sensitivity sweep is stated future work.</a:t>
            </a:r>
          </a:p>
          <a:p>
            <a:pPr>
              <a:spcBef>
                <a:spcPts val="600"/>
              </a:spcBef>
              <a:spcAft>
                <a:spcPts val="800"/>
              </a:spcAft>
            </a:pPr>
            <a:r>
              <a:rPr sz="1550" b="1">
                <a:solidFill>
                  <a:srgbClr val="1A1A1A"/>
                </a:solidFill>
                <a:latin typeface="Calibri"/>
              </a:rPr>
              <a:t>'Your 83% is mostly consolidation, not carbon-awareness.'</a:t>
            </a:r>
          </a:p>
          <a:p>
            <a:pPr lvl="1">
              <a:spcBef>
                <a:spcPts val="0"/>
              </a:spcBef>
              <a:spcAft>
                <a:spcPts val="300"/>
              </a:spcAft>
            </a:pPr>
            <a:r>
              <a:rPr sz="1350" b="0">
                <a:solidFill>
                  <a:srgbClr val="5F6B6A"/>
                </a:solidFill>
                <a:latin typeface="Calibri"/>
              </a:rPr>
              <a:t>–  Correct, and I separate them explicitly: energy-aware alone gets 80.5%. The clean measure of my contribution is the temporal-only table — 11.3% vs 1.2%.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Backup — anticipated questions (2 of 2)</a:t>
            </a:r>
          </a:p>
        </p:txBody>
      </p:sp>
      <p:sp>
        <p:nvSpPr>
          <p:cNvPr id="3" name="Rectangle 2"/>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25</a:t>
            </a:r>
          </a:p>
        </p:txBody>
      </p:sp>
      <p:sp>
        <p:nvSpPr>
          <p:cNvPr id="5" name="TextBox 4"/>
          <p:cNvSpPr txBox="1"/>
          <p:nvPr/>
        </p:nvSpPr>
        <p:spPr>
          <a:xfrm>
            <a:off x="685800" y="1600200"/>
            <a:ext cx="10820095" cy="4617720"/>
          </a:xfrm>
          <a:prstGeom prst="rect">
            <a:avLst/>
          </a:prstGeom>
          <a:noFill/>
        </p:spPr>
        <p:txBody>
          <a:bodyPr wrap="square">
            <a:spAutoFit/>
          </a:bodyPr>
          <a:lstStyle/>
          <a:p>
            <a:pPr>
              <a:spcBef>
                <a:spcPts val="600"/>
              </a:spcBef>
              <a:spcAft>
                <a:spcPts val="700"/>
              </a:spcAft>
            </a:pPr>
            <a:r>
              <a:rPr sz="1550" b="1">
                <a:solidFill>
                  <a:srgbClr val="1A1A1A"/>
                </a:solidFill>
                <a:latin typeface="Calibri"/>
              </a:rPr>
              <a:t>'Would this survive real forecast error?'</a:t>
            </a:r>
          </a:p>
          <a:p>
            <a:pPr lvl="1">
              <a:spcBef>
                <a:spcPts val="0"/>
              </a:spcBef>
              <a:spcAft>
                <a:spcPts val="200"/>
              </a:spcAft>
            </a:pPr>
            <a:r>
              <a:rPr sz="1350" b="0">
                <a:solidFill>
                  <a:srgbClr val="5F6B6A"/>
                </a:solidFill>
                <a:latin typeface="Calibri"/>
              </a:rPr>
              <a:t>–  Unknown, and it is my most significant gap. The scheduling arm assumes an oracle. Forecast MAE is ~3.4 gCO₂/kWh, but I have not measured how much saving survives. First future work item.</a:t>
            </a:r>
          </a:p>
          <a:p>
            <a:pPr>
              <a:spcBef>
                <a:spcPts val="600"/>
              </a:spcBef>
              <a:spcAft>
                <a:spcPts val="700"/>
              </a:spcAft>
            </a:pPr>
            <a:r>
              <a:rPr sz="1550" b="1">
                <a:solidFill>
                  <a:srgbClr val="1A1A1A"/>
                </a:solidFill>
                <a:latin typeface="Calibri"/>
              </a:rPr>
              <a:t>'Only 60 tasks — is this realistic?'</a:t>
            </a:r>
          </a:p>
          <a:p>
            <a:pPr lvl="1">
              <a:spcBef>
                <a:spcPts val="0"/>
              </a:spcBef>
              <a:spcAft>
                <a:spcPts val="200"/>
              </a:spcAft>
            </a:pPr>
            <a:r>
              <a:rPr sz="1350" b="0">
                <a:solidFill>
                  <a:srgbClr val="5F6B6A"/>
                </a:solidFill>
                <a:latin typeface="Calibri"/>
              </a:rPr>
              <a:t>–  Extended to 300 with 5 seeds and the finding holds at every scale. But 300 is still far from datacentre scale, and runtime beyond that is untested.</a:t>
            </a:r>
          </a:p>
          <a:p>
            <a:pPr>
              <a:spcBef>
                <a:spcPts val="600"/>
              </a:spcBef>
              <a:spcAft>
                <a:spcPts val="700"/>
              </a:spcAft>
            </a:pPr>
            <a:r>
              <a:rPr sz="1550" b="1">
                <a:solidFill>
                  <a:srgbClr val="1A1A1A"/>
                </a:solidFill>
                <a:latin typeface="Calibri"/>
              </a:rPr>
              <a:t>'Isn't a 12-hour deferral unacceptable to users?'</a:t>
            </a:r>
          </a:p>
          <a:p>
            <a:pPr lvl="1">
              <a:spcBef>
                <a:spcPts val="0"/>
              </a:spcBef>
              <a:spcAft>
                <a:spcPts val="200"/>
              </a:spcAft>
            </a:pPr>
            <a:r>
              <a:rPr sz="1350" b="0">
                <a:solidFill>
                  <a:srgbClr val="5F6B6A"/>
                </a:solidFill>
                <a:latin typeface="Calibri"/>
              </a:rPr>
              <a:t>–  For interactive work, yes — which is why the scope is deferrable batch jobs only. MAX_DEFER is a configurable operator policy, not a fixed property of the method.</a:t>
            </a:r>
          </a:p>
          <a:p>
            <a:pPr>
              <a:spcBef>
                <a:spcPts val="600"/>
              </a:spcBef>
              <a:spcAft>
                <a:spcPts val="700"/>
              </a:spcAft>
            </a:pPr>
            <a:r>
              <a:rPr sz="1550" b="1">
                <a:solidFill>
                  <a:srgbClr val="1A1A1A"/>
                </a:solidFill>
                <a:latin typeface="Calibri"/>
              </a:rPr>
              <a:t>'Why is makespan 5.3 h against FIFO's 2.0 h?'</a:t>
            </a:r>
          </a:p>
          <a:p>
            <a:pPr lvl="1">
              <a:spcBef>
                <a:spcPts val="0"/>
              </a:spcBef>
              <a:spcAft>
                <a:spcPts val="200"/>
              </a:spcAft>
            </a:pPr>
            <a:r>
              <a:rPr sz="1350" b="0">
                <a:solidFill>
                  <a:srgbClr val="5F6B6A"/>
                </a:solidFill>
                <a:latin typeface="Calibri"/>
              </a:rPr>
              <a:t>–  That is the genuine cost of the approach. Deferring stretches the schedule. The trade-off is wall-clock span, not deadline compliance — every deadline was still met.</a:t>
            </a:r>
          </a:p>
          <a:p>
            <a:pPr>
              <a:spcBef>
                <a:spcPts val="600"/>
              </a:spcBef>
              <a:spcAft>
                <a:spcPts val="700"/>
              </a:spcAft>
            </a:pPr>
            <a:r>
              <a:rPr sz="1550" b="1">
                <a:solidFill>
                  <a:srgbClr val="1A1A1A"/>
                </a:solidFill>
                <a:latin typeface="Calibri"/>
              </a:rPr>
              <a:t>'Why 2011 Google trace rather than 2019?'</a:t>
            </a:r>
          </a:p>
          <a:p>
            <a:pPr lvl="1">
              <a:spcBef>
                <a:spcPts val="0"/>
              </a:spcBef>
              <a:spcAft>
                <a:spcPts val="200"/>
              </a:spcAft>
            </a:pPr>
            <a:r>
              <a:rPr sz="1350" b="0">
                <a:solidFill>
                  <a:srgbClr val="5F6B6A"/>
                </a:solidFill>
                <a:latin typeface="Calibri"/>
              </a:rPr>
              <a:t>–  Tractability, and 2011 is the more widely used benchmark so comparison with prior work is easier. The 2019 trace is a reasonable extension.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566928"/>
          </a:xfrm>
          <a:prstGeom prst="rect">
            <a:avLst/>
          </a:prstGeom>
          <a:noFill/>
        </p:spPr>
        <p:txBody>
          <a:bodyPr wrap="square">
            <a:spAutoFit/>
          </a:bodyPr>
          <a:lstStyle/>
          <a:p>
            <a:pPr algn="l">
              <a:spcAft>
                <a:spcPts val="0"/>
              </a:spcAft>
            </a:pPr>
            <a:r>
              <a:rPr sz="3000" b="1" i="0">
                <a:solidFill>
                  <a:srgbClr val="103D38"/>
                </a:solidFill>
                <a:latin typeface="Calibri"/>
              </a:rPr>
              <a:t>Backup — experimental parameters</a:t>
            </a:r>
          </a:p>
        </p:txBody>
      </p:sp>
      <p:sp>
        <p:nvSpPr>
          <p:cNvPr id="3" name="Rectangle 2"/>
          <p:cNvSpPr/>
          <p:nvPr/>
        </p:nvSpPr>
        <p:spPr>
          <a:xfrm>
            <a:off x="548640" y="1207008"/>
            <a:ext cx="1371600" cy="44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400800"/>
            <a:ext cx="548640" cy="274320"/>
          </a:xfrm>
          <a:prstGeom prst="rect">
            <a:avLst/>
          </a:prstGeom>
          <a:noFill/>
        </p:spPr>
        <p:txBody>
          <a:bodyPr wrap="square">
            <a:spAutoFit/>
          </a:bodyPr>
          <a:lstStyle/>
          <a:p>
            <a:pPr algn="r">
              <a:spcAft>
                <a:spcPts val="0"/>
              </a:spcAft>
            </a:pPr>
            <a:r>
              <a:rPr sz="1100" b="0" i="0">
                <a:solidFill>
                  <a:srgbClr val="5F6B6A"/>
                </a:solidFill>
                <a:latin typeface="Calibri"/>
              </a:rPr>
              <a:t>26</a:t>
            </a:r>
          </a:p>
        </p:txBody>
      </p:sp>
      <p:graphicFrame>
        <p:nvGraphicFramePr>
          <p:cNvPr id="5" name="Table 4"/>
          <p:cNvGraphicFramePr>
            <a:graphicFrameLocks noGrp="1"/>
          </p:cNvGraphicFramePr>
          <p:nvPr/>
        </p:nvGraphicFramePr>
        <p:xfrm>
          <a:off x="640080" y="1554480"/>
          <a:ext cx="10911533" cy="4992624"/>
        </p:xfrm>
        <a:graphic>
          <a:graphicData uri="http://schemas.openxmlformats.org/drawingml/2006/table">
            <a:tbl>
              <a:tblPr firstRow="1" bandRow="1">
                <a:tableStyleId>{5C22544A-7EE6-4342-B048-85BDC9FD1C3A}</a:tableStyleId>
              </a:tblPr>
              <a:tblGrid>
                <a:gridCol w="4307184"/>
                <a:gridCol w="2871456"/>
                <a:gridCol w="3732893"/>
              </a:tblGrid>
              <a:tr h="384048">
                <a:tc>
                  <a:txBody>
                    <a:bodyPr/>
                    <a:lstStyle/>
                    <a:p>
                      <a:pPr algn="l"/>
                      <a:r>
                        <a:rPr sz="1300" b="1">
                          <a:solidFill>
                            <a:srgbClr val="FFFFFF"/>
                          </a:solidFill>
                          <a:latin typeface="Calibri"/>
                        </a:rPr>
                        <a:t>Parameter</a:t>
                      </a:r>
                    </a:p>
                  </a:txBody>
                  <a:tcPr anchor="ctr">
                    <a:solidFill>
                      <a:srgbClr val="103D38"/>
                    </a:solidFill>
                  </a:tcPr>
                </a:tc>
                <a:tc>
                  <a:txBody>
                    <a:bodyPr/>
                    <a:lstStyle/>
                    <a:p>
                      <a:pPr algn="ctr"/>
                      <a:r>
                        <a:rPr sz="1300" b="1">
                          <a:solidFill>
                            <a:srgbClr val="FFFFFF"/>
                          </a:solidFill>
                          <a:latin typeface="Calibri"/>
                        </a:rPr>
                        <a:t>Value</a:t>
                      </a:r>
                    </a:p>
                  </a:txBody>
                  <a:tcPr anchor="ctr">
                    <a:solidFill>
                      <a:srgbClr val="103D38"/>
                    </a:solidFill>
                  </a:tcPr>
                </a:tc>
                <a:tc>
                  <a:txBody>
                    <a:bodyPr/>
                    <a:lstStyle/>
                    <a:p>
                      <a:pPr algn="ctr"/>
                      <a:r>
                        <a:rPr sz="1300" b="1">
                          <a:solidFill>
                            <a:srgbClr val="FFFFFF"/>
                          </a:solidFill>
                          <a:latin typeface="Calibri"/>
                        </a:rPr>
                        <a:t>Where set</a:t>
                      </a:r>
                    </a:p>
                  </a:txBody>
                  <a:tcPr anchor="ctr">
                    <a:solidFill>
                      <a:srgbClr val="103D38"/>
                    </a:solidFill>
                  </a:tcPr>
                </a:tc>
              </a:tr>
              <a:tr h="384048">
                <a:tc>
                  <a:txBody>
                    <a:bodyPr/>
                    <a:lstStyle/>
                    <a:p>
                      <a:pPr algn="l"/>
                      <a:r>
                        <a:rPr sz="1300" b="0">
                          <a:solidFill>
                            <a:srgbClr val="1A1A1A"/>
                          </a:solidFill>
                          <a:latin typeface="Calibri"/>
                        </a:rPr>
                        <a:t>Tasks (main experiment)</a:t>
                      </a:r>
                    </a:p>
                  </a:txBody>
                  <a:tcPr anchor="ctr">
                    <a:solidFill>
                      <a:srgbClr val="FFFFFF"/>
                    </a:solidFill>
                  </a:tcPr>
                </a:tc>
                <a:tc>
                  <a:txBody>
                    <a:bodyPr/>
                    <a:lstStyle/>
                    <a:p>
                      <a:pPr algn="ctr"/>
                      <a:r>
                        <a:rPr sz="1300" b="0">
                          <a:solidFill>
                            <a:srgbClr val="1A1A1A"/>
                          </a:solidFill>
                          <a:latin typeface="Calibri"/>
                        </a:rPr>
                        <a:t>60</a:t>
                      </a:r>
                    </a:p>
                  </a:txBody>
                  <a:tcPr anchor="ctr">
                    <a:solidFill>
                      <a:srgbClr val="FFFFFF"/>
                    </a:solidFill>
                  </a:tcPr>
                </a:tc>
                <a:tc>
                  <a:txBody>
                    <a:bodyPr/>
                    <a:lstStyle/>
                    <a:p>
                      <a:pPr algn="ctr"/>
                      <a:r>
                        <a:rPr sz="1300" b="0">
                          <a:solidFill>
                            <a:srgbClr val="1A1A1A"/>
                          </a:solidFill>
                          <a:latin typeface="Calibri"/>
                        </a:rPr>
                        <a:t>Google trace, head(60)</a:t>
                      </a:r>
                    </a:p>
                  </a:txBody>
                  <a:tcPr anchor="ctr">
                    <a:solidFill>
                      <a:srgbClr val="FFFFFF"/>
                    </a:solidFill>
                  </a:tcPr>
                </a:tc>
              </a:tr>
              <a:tr h="384048">
                <a:tc>
                  <a:txBody>
                    <a:bodyPr/>
                    <a:lstStyle/>
                    <a:p>
                      <a:pPr algn="l"/>
                      <a:r>
                        <a:rPr sz="1300" b="0">
                          <a:solidFill>
                            <a:srgbClr val="1A1A1A"/>
                          </a:solidFill>
                          <a:latin typeface="Calibri"/>
                        </a:rPr>
                        <a:t>Optimiser epochs</a:t>
                      </a:r>
                    </a:p>
                  </a:txBody>
                  <a:tcPr anchor="ctr">
                    <a:solidFill>
                      <a:srgbClr val="F6F8F7"/>
                    </a:solidFill>
                  </a:tcPr>
                </a:tc>
                <a:tc>
                  <a:txBody>
                    <a:bodyPr/>
                    <a:lstStyle/>
                    <a:p>
                      <a:pPr algn="ctr"/>
                      <a:r>
                        <a:rPr sz="1300" b="0">
                          <a:solidFill>
                            <a:srgbClr val="1A1A1A"/>
                          </a:solidFill>
                          <a:latin typeface="Calibri"/>
                        </a:rPr>
                        <a:t>150</a:t>
                      </a:r>
                    </a:p>
                  </a:txBody>
                  <a:tcPr anchor="ctr">
                    <a:solidFill>
                      <a:srgbClr val="F6F8F7"/>
                    </a:solidFill>
                  </a:tcPr>
                </a:tc>
                <a:tc>
                  <a:txBody>
                    <a:bodyPr/>
                    <a:lstStyle/>
                    <a:p>
                      <a:pPr algn="ctr"/>
                      <a:r>
                        <a:rPr sz="1300" b="0">
                          <a:solidFill>
                            <a:srgbClr val="1A1A1A"/>
                          </a:solidFill>
                          <a:latin typeface="Calibri"/>
                        </a:rPr>
                        <a:t>EPOCH</a:t>
                      </a:r>
                    </a:p>
                  </a:txBody>
                  <a:tcPr anchor="ctr">
                    <a:solidFill>
                      <a:srgbClr val="F6F8F7"/>
                    </a:solidFill>
                  </a:tcPr>
                </a:tc>
              </a:tr>
              <a:tr h="384048">
                <a:tc>
                  <a:txBody>
                    <a:bodyPr/>
                    <a:lstStyle/>
                    <a:p>
                      <a:pPr algn="l"/>
                      <a:r>
                        <a:rPr sz="1300" b="0">
                          <a:solidFill>
                            <a:srgbClr val="1A1A1A"/>
                          </a:solidFill>
                          <a:latin typeface="Calibri"/>
                        </a:rPr>
                        <a:t>Population size</a:t>
                      </a:r>
                    </a:p>
                  </a:txBody>
                  <a:tcPr anchor="ctr">
                    <a:solidFill>
                      <a:srgbClr val="FFFFFF"/>
                    </a:solidFill>
                  </a:tcPr>
                </a:tc>
                <a:tc>
                  <a:txBody>
                    <a:bodyPr/>
                    <a:lstStyle/>
                    <a:p>
                      <a:pPr algn="ctr"/>
                      <a:r>
                        <a:rPr sz="1300" b="0">
                          <a:solidFill>
                            <a:srgbClr val="1A1A1A"/>
                          </a:solidFill>
                          <a:latin typeface="Calibri"/>
                        </a:rPr>
                        <a:t>50</a:t>
                      </a:r>
                    </a:p>
                  </a:txBody>
                  <a:tcPr anchor="ctr">
                    <a:solidFill>
                      <a:srgbClr val="FFFFFF"/>
                    </a:solidFill>
                  </a:tcPr>
                </a:tc>
                <a:tc>
                  <a:txBody>
                    <a:bodyPr/>
                    <a:lstStyle/>
                    <a:p>
                      <a:pPr algn="ctr"/>
                      <a:r>
                        <a:rPr sz="1300" b="0">
                          <a:solidFill>
                            <a:srgbClr val="1A1A1A"/>
                          </a:solidFill>
                          <a:latin typeface="Calibri"/>
                        </a:rPr>
                        <a:t>POP</a:t>
                      </a:r>
                    </a:p>
                  </a:txBody>
                  <a:tcPr anchor="ctr">
                    <a:solidFill>
                      <a:srgbClr val="FFFFFF"/>
                    </a:solidFill>
                  </a:tcPr>
                </a:tc>
              </a:tr>
              <a:tr h="384048">
                <a:tc>
                  <a:txBody>
                    <a:bodyPr/>
                    <a:lstStyle/>
                    <a:p>
                      <a:pPr algn="l"/>
                      <a:r>
                        <a:rPr sz="1300" b="0">
                          <a:solidFill>
                            <a:srgbClr val="1A1A1A"/>
                          </a:solidFill>
                          <a:latin typeface="Calibri"/>
                        </a:rPr>
                        <a:t>Random seed</a:t>
                      </a:r>
                    </a:p>
                  </a:txBody>
                  <a:tcPr anchor="ctr">
                    <a:solidFill>
                      <a:srgbClr val="F6F8F7"/>
                    </a:solidFill>
                  </a:tcPr>
                </a:tc>
                <a:tc>
                  <a:txBody>
                    <a:bodyPr/>
                    <a:lstStyle/>
                    <a:p>
                      <a:pPr algn="ctr"/>
                      <a:r>
                        <a:rPr sz="1300" b="0">
                          <a:solidFill>
                            <a:srgbClr val="1A1A1A"/>
                          </a:solidFill>
                          <a:latin typeface="Calibri"/>
                        </a:rPr>
                        <a:t>42</a:t>
                      </a:r>
                    </a:p>
                  </a:txBody>
                  <a:tcPr anchor="ctr">
                    <a:solidFill>
                      <a:srgbClr val="F6F8F7"/>
                    </a:solidFill>
                  </a:tcPr>
                </a:tc>
                <a:tc>
                  <a:txBody>
                    <a:bodyPr/>
                    <a:lstStyle/>
                    <a:p>
                      <a:pPr algn="ctr"/>
                      <a:r>
                        <a:rPr sz="1300" b="0">
                          <a:solidFill>
                            <a:srgbClr val="1A1A1A"/>
                          </a:solidFill>
                          <a:latin typeface="Calibri"/>
                        </a:rPr>
                        <a:t>SEED</a:t>
                      </a:r>
                    </a:p>
                  </a:txBody>
                  <a:tcPr anchor="ctr">
                    <a:solidFill>
                      <a:srgbClr val="F6F8F7"/>
                    </a:solidFill>
                  </a:tcPr>
                </a:tc>
              </a:tr>
              <a:tr h="384048">
                <a:tc>
                  <a:txBody>
                    <a:bodyPr/>
                    <a:lstStyle/>
                    <a:p>
                      <a:pPr algn="l"/>
                      <a:r>
                        <a:rPr sz="1300" b="0">
                          <a:solidFill>
                            <a:srgbClr val="1A1A1A"/>
                          </a:solidFill>
                          <a:latin typeface="Calibri"/>
                        </a:rPr>
                        <a:t>Idle / peak server power</a:t>
                      </a:r>
                    </a:p>
                  </a:txBody>
                  <a:tcPr anchor="ctr">
                    <a:solidFill>
                      <a:srgbClr val="FFFFFF"/>
                    </a:solidFill>
                  </a:tcPr>
                </a:tc>
                <a:tc>
                  <a:txBody>
                    <a:bodyPr/>
                    <a:lstStyle/>
                    <a:p>
                      <a:pPr algn="ctr"/>
                      <a:r>
                        <a:rPr sz="1300" b="0">
                          <a:solidFill>
                            <a:srgbClr val="1A1A1A"/>
                          </a:solidFill>
                          <a:latin typeface="Calibri"/>
                        </a:rPr>
                        <a:t>100 W / 250 W</a:t>
                      </a:r>
                    </a:p>
                  </a:txBody>
                  <a:tcPr anchor="ctr">
                    <a:solidFill>
                      <a:srgbClr val="FFFFFF"/>
                    </a:solidFill>
                  </a:tcPr>
                </a:tc>
                <a:tc>
                  <a:txBody>
                    <a:bodyPr/>
                    <a:lstStyle/>
                    <a:p>
                      <a:pPr algn="ctr"/>
                      <a:r>
                        <a:rPr sz="1300" b="0">
                          <a:solidFill>
                            <a:srgbClr val="1A1A1A"/>
                          </a:solidFill>
                          <a:latin typeface="Calibri"/>
                        </a:rPr>
                        <a:t>P_IDLE_W, P_MAX_W</a:t>
                      </a:r>
                    </a:p>
                  </a:txBody>
                  <a:tcPr anchor="ctr">
                    <a:solidFill>
                      <a:srgbClr val="FFFFFF"/>
                    </a:solidFill>
                  </a:tcPr>
                </a:tc>
              </a:tr>
              <a:tr h="384048">
                <a:tc>
                  <a:txBody>
                    <a:bodyPr/>
                    <a:lstStyle/>
                    <a:p>
                      <a:pPr algn="l"/>
                      <a:r>
                        <a:rPr sz="1300" b="0">
                          <a:solidFill>
                            <a:srgbClr val="1A1A1A"/>
                          </a:solidFill>
                          <a:latin typeface="Calibri"/>
                        </a:rPr>
                        <a:t>Slot length</a:t>
                      </a:r>
                    </a:p>
                  </a:txBody>
                  <a:tcPr anchor="ctr">
                    <a:solidFill>
                      <a:srgbClr val="F6F8F7"/>
                    </a:solidFill>
                  </a:tcPr>
                </a:tc>
                <a:tc>
                  <a:txBody>
                    <a:bodyPr/>
                    <a:lstStyle/>
                    <a:p>
                      <a:pPr algn="ctr"/>
                      <a:r>
                        <a:rPr sz="1300" b="0">
                          <a:solidFill>
                            <a:srgbClr val="1A1A1A"/>
                          </a:solidFill>
                          <a:latin typeface="Calibri"/>
                        </a:rPr>
                        <a:t>0.5 h (48 per day)</a:t>
                      </a:r>
                    </a:p>
                  </a:txBody>
                  <a:tcPr anchor="ctr">
                    <a:solidFill>
                      <a:srgbClr val="F6F8F7"/>
                    </a:solidFill>
                  </a:tcPr>
                </a:tc>
                <a:tc>
                  <a:txBody>
                    <a:bodyPr/>
                    <a:lstStyle/>
                    <a:p>
                      <a:pPr algn="ctr"/>
                      <a:r>
                        <a:rPr sz="1300" b="0">
                          <a:solidFill>
                            <a:srgbClr val="1A1A1A"/>
                          </a:solidFill>
                          <a:latin typeface="Calibri"/>
                        </a:rPr>
                        <a:t>SLOT_H</a:t>
                      </a:r>
                    </a:p>
                  </a:txBody>
                  <a:tcPr anchor="ctr">
                    <a:solidFill>
                      <a:srgbClr val="F6F8F7"/>
                    </a:solidFill>
                  </a:tcPr>
                </a:tc>
              </a:tr>
              <a:tr h="384048">
                <a:tc>
                  <a:txBody>
                    <a:bodyPr/>
                    <a:lstStyle/>
                    <a:p>
                      <a:pPr algn="l"/>
                      <a:r>
                        <a:rPr sz="1300" b="0">
                          <a:solidFill>
                            <a:srgbClr val="1A1A1A"/>
                          </a:solidFill>
                          <a:latin typeface="Calibri"/>
                        </a:rPr>
                        <a:t>Max deferral</a:t>
                      </a:r>
                    </a:p>
                  </a:txBody>
                  <a:tcPr anchor="ctr">
                    <a:solidFill>
                      <a:srgbClr val="FFFFFF"/>
                    </a:solidFill>
                  </a:tcPr>
                </a:tc>
                <a:tc>
                  <a:txBody>
                    <a:bodyPr/>
                    <a:lstStyle/>
                    <a:p>
                      <a:pPr algn="ctr"/>
                      <a:r>
                        <a:rPr sz="1300" b="0">
                          <a:solidFill>
                            <a:srgbClr val="1A1A1A"/>
                          </a:solidFill>
                          <a:latin typeface="Calibri"/>
                        </a:rPr>
                        <a:t>24 slots (12 h)</a:t>
                      </a:r>
                    </a:p>
                  </a:txBody>
                  <a:tcPr anchor="ctr">
                    <a:solidFill>
                      <a:srgbClr val="FFFFFF"/>
                    </a:solidFill>
                  </a:tcPr>
                </a:tc>
                <a:tc>
                  <a:txBody>
                    <a:bodyPr/>
                    <a:lstStyle/>
                    <a:p>
                      <a:pPr algn="ctr"/>
                      <a:r>
                        <a:rPr sz="1300" b="0">
                          <a:solidFill>
                            <a:srgbClr val="1A1A1A"/>
                          </a:solidFill>
                          <a:latin typeface="Calibri"/>
                        </a:rPr>
                        <a:t>MAX_DEFER</a:t>
                      </a:r>
                    </a:p>
                  </a:txBody>
                  <a:tcPr anchor="ctr">
                    <a:solidFill>
                      <a:srgbClr val="FFFFFF"/>
                    </a:solidFill>
                  </a:tcPr>
                </a:tc>
              </a:tr>
              <a:tr h="384048">
                <a:tc>
                  <a:txBody>
                    <a:bodyPr/>
                    <a:lstStyle/>
                    <a:p>
                      <a:pPr algn="l"/>
                      <a:r>
                        <a:rPr sz="1300" b="0">
                          <a:solidFill>
                            <a:srgbClr val="1A1A1A"/>
                          </a:solidFill>
                          <a:latin typeface="Calibri"/>
                        </a:rPr>
                        <a:t>Deadline slack</a:t>
                      </a:r>
                    </a:p>
                  </a:txBody>
                  <a:tcPr anchor="ctr">
                    <a:solidFill>
                      <a:srgbClr val="F6F8F7"/>
                    </a:solidFill>
                  </a:tcPr>
                </a:tc>
                <a:tc>
                  <a:txBody>
                    <a:bodyPr/>
                    <a:lstStyle/>
                    <a:p>
                      <a:pPr algn="ctr"/>
                      <a:r>
                        <a:rPr sz="1300" b="0">
                          <a:solidFill>
                            <a:srgbClr val="1A1A1A"/>
                          </a:solidFill>
                          <a:latin typeface="Calibri"/>
                        </a:rPr>
                        <a:t>8 slots (4 h)</a:t>
                      </a:r>
                    </a:p>
                  </a:txBody>
                  <a:tcPr anchor="ctr">
                    <a:solidFill>
                      <a:srgbClr val="F6F8F7"/>
                    </a:solidFill>
                  </a:tcPr>
                </a:tc>
                <a:tc>
                  <a:txBody>
                    <a:bodyPr/>
                    <a:lstStyle/>
                    <a:p>
                      <a:pPr algn="ctr"/>
                      <a:r>
                        <a:rPr sz="1300" b="0">
                          <a:solidFill>
                            <a:srgbClr val="1A1A1A"/>
                          </a:solidFill>
                          <a:latin typeface="Calibri"/>
                        </a:rPr>
                        <a:t>SLACK</a:t>
                      </a:r>
                    </a:p>
                  </a:txBody>
                  <a:tcPr anchor="ctr">
                    <a:solidFill>
                      <a:srgbClr val="F6F8F7"/>
                    </a:solidFill>
                  </a:tcPr>
                </a:tc>
              </a:tr>
              <a:tr h="384048">
                <a:tc>
                  <a:txBody>
                    <a:bodyPr/>
                    <a:lstStyle/>
                    <a:p>
                      <a:pPr algn="l"/>
                      <a:r>
                        <a:rPr sz="1300" b="0">
                          <a:solidFill>
                            <a:srgbClr val="1A1A1A"/>
                          </a:solidFill>
                          <a:latin typeface="Calibri"/>
                        </a:rPr>
                        <a:t>Objective weights α / β / γ</a:t>
                      </a:r>
                    </a:p>
                  </a:txBody>
                  <a:tcPr anchor="ctr">
                    <a:solidFill>
                      <a:srgbClr val="FFFFFF"/>
                    </a:solidFill>
                  </a:tcPr>
                </a:tc>
                <a:tc>
                  <a:txBody>
                    <a:bodyPr/>
                    <a:lstStyle/>
                    <a:p>
                      <a:pPr algn="ctr"/>
                      <a:r>
                        <a:rPr sz="1300" b="0">
                          <a:solidFill>
                            <a:srgbClr val="1A1A1A"/>
                          </a:solidFill>
                          <a:latin typeface="Calibri"/>
                        </a:rPr>
                        <a:t>0.4 / 0.3 / 0.3</a:t>
                      </a:r>
                    </a:p>
                  </a:txBody>
                  <a:tcPr anchor="ctr">
                    <a:solidFill>
                      <a:srgbClr val="FFFFFF"/>
                    </a:solidFill>
                  </a:tcPr>
                </a:tc>
                <a:tc>
                  <a:txBody>
                    <a:bodyPr/>
                    <a:lstStyle/>
                    <a:p>
                      <a:pPr algn="ctr"/>
                      <a:r>
                        <a:rPr sz="1300" b="0">
                          <a:solidFill>
                            <a:srgbClr val="1A1A1A"/>
                          </a:solidFill>
                          <a:latin typeface="Calibri"/>
                        </a:rPr>
                        <a:t>asserted to sum to 1.0</a:t>
                      </a:r>
                    </a:p>
                  </a:txBody>
                  <a:tcPr anchor="ctr">
                    <a:solidFill>
                      <a:srgbClr val="FFFFFF"/>
                    </a:solidFill>
                  </a:tcPr>
                </a:tc>
              </a:tr>
              <a:tr h="384048">
                <a:tc>
                  <a:txBody>
                    <a:bodyPr/>
                    <a:lstStyle/>
                    <a:p>
                      <a:pPr algn="l"/>
                      <a:r>
                        <a:rPr sz="1300" b="0">
                          <a:solidFill>
                            <a:srgbClr val="1A1A1A"/>
                          </a:solidFill>
                          <a:latin typeface="Calibri"/>
                        </a:rPr>
                        <a:t>Tariff peak / off-peak</a:t>
                      </a:r>
                    </a:p>
                  </a:txBody>
                  <a:tcPr anchor="ctr">
                    <a:solidFill>
                      <a:srgbClr val="F6F8F7"/>
                    </a:solidFill>
                  </a:tcPr>
                </a:tc>
                <a:tc>
                  <a:txBody>
                    <a:bodyPr/>
                    <a:lstStyle/>
                    <a:p>
                      <a:pPr algn="ctr"/>
                      <a:r>
                        <a:rPr sz="1300" b="0">
                          <a:solidFill>
                            <a:srgbClr val="1A1A1A"/>
                          </a:solidFill>
                          <a:latin typeface="Calibri"/>
                        </a:rPr>
                        <a:t>£0.30 / £0.15</a:t>
                      </a:r>
                    </a:p>
                  </a:txBody>
                  <a:tcPr anchor="ctr">
                    <a:solidFill>
                      <a:srgbClr val="F6F8F7"/>
                    </a:solidFill>
                  </a:tcPr>
                </a:tc>
                <a:tc>
                  <a:txBody>
                    <a:bodyPr/>
                    <a:lstStyle/>
                    <a:p>
                      <a:pPr algn="ctr"/>
                      <a:r>
                        <a:rPr sz="1300" b="0">
                          <a:solidFill>
                            <a:srgbClr val="1A1A1A"/>
                          </a:solidFill>
                          <a:latin typeface="Calibri"/>
                        </a:rPr>
                        <a:t>slots 32–39 peak</a:t>
                      </a:r>
                    </a:p>
                  </a:txBody>
                  <a:tcPr anchor="ctr">
                    <a:solidFill>
                      <a:srgbClr val="F6F8F7"/>
                    </a:solidFill>
                  </a:tcPr>
                </a:tc>
              </a:tr>
              <a:tr h="384048">
                <a:tc>
                  <a:txBody>
                    <a:bodyPr/>
                    <a:lstStyle/>
                    <a:p>
                      <a:pPr algn="l"/>
                      <a:r>
                        <a:rPr sz="1300" b="0">
                          <a:solidFill>
                            <a:srgbClr val="1A1A1A"/>
                          </a:solidFill>
                          <a:latin typeface="Calibri"/>
                        </a:rPr>
                        <a:t>Forecast look-back</a:t>
                      </a:r>
                    </a:p>
                  </a:txBody>
                  <a:tcPr anchor="ctr">
                    <a:solidFill>
                      <a:srgbClr val="FFFFFF"/>
                    </a:solidFill>
                  </a:tcPr>
                </a:tc>
                <a:tc>
                  <a:txBody>
                    <a:bodyPr/>
                    <a:lstStyle/>
                    <a:p>
                      <a:pPr algn="ctr"/>
                      <a:r>
                        <a:rPr sz="1300" b="0">
                          <a:solidFill>
                            <a:srgbClr val="1A1A1A"/>
                          </a:solidFill>
                          <a:latin typeface="Calibri"/>
                        </a:rPr>
                        <a:t>48 slots (24 h)</a:t>
                      </a:r>
                    </a:p>
                  </a:txBody>
                  <a:tcPr anchor="ctr">
                    <a:solidFill>
                      <a:srgbClr val="FFFFFF"/>
                    </a:solidFill>
                  </a:tcPr>
                </a:tc>
                <a:tc>
                  <a:txBody>
                    <a:bodyPr/>
                    <a:lstStyle/>
                    <a:p>
                      <a:pPr algn="ctr"/>
                      <a:r>
                        <a:rPr sz="1300" b="0">
                          <a:solidFill>
                            <a:srgbClr val="1A1A1A"/>
                          </a:solidFill>
                          <a:latin typeface="Calibri"/>
                        </a:rPr>
                        <a:t>LOOK_BACK</a:t>
                      </a:r>
                    </a:p>
                  </a:txBody>
                  <a:tcPr anchor="ctr">
                    <a:solidFill>
                      <a:srgbClr val="FFFFFF"/>
                    </a:solidFill>
                  </a:tcPr>
                </a:tc>
              </a:tr>
              <a:tr h="384048">
                <a:tc>
                  <a:txBody>
                    <a:bodyPr/>
                    <a:lstStyle/>
                    <a:p>
                      <a:pPr algn="l"/>
                      <a:r>
                        <a:rPr sz="1300" b="0">
                          <a:solidFill>
                            <a:srgbClr val="1A1A1A"/>
                          </a:solidFill>
                          <a:latin typeface="Calibri"/>
                        </a:rPr>
                        <a:t>Library</a:t>
                      </a:r>
                    </a:p>
                  </a:txBody>
                  <a:tcPr anchor="ctr">
                    <a:solidFill>
                      <a:srgbClr val="F6F8F7"/>
                    </a:solidFill>
                  </a:tcPr>
                </a:tc>
                <a:tc>
                  <a:txBody>
                    <a:bodyPr/>
                    <a:lstStyle/>
                    <a:p>
                      <a:pPr algn="ctr"/>
                      <a:r>
                        <a:rPr sz="1300" b="0">
                          <a:solidFill>
                            <a:srgbClr val="1A1A1A"/>
                          </a:solidFill>
                          <a:latin typeface="Calibri"/>
                        </a:rPr>
                        <a:t>Mealpy 3.0.3</a:t>
                      </a:r>
                    </a:p>
                  </a:txBody>
                  <a:tcPr anchor="ctr">
                    <a:solidFill>
                      <a:srgbClr val="F6F8F7"/>
                    </a:solidFill>
                  </a:tcPr>
                </a:tc>
                <a:tc>
                  <a:txBody>
                    <a:bodyPr/>
                    <a:lstStyle/>
                    <a:p>
                      <a:pPr algn="ctr"/>
                      <a:r>
                        <a:rPr sz="1300" b="0">
                          <a:solidFill>
                            <a:srgbClr val="1A1A1A"/>
                          </a:solidFill>
                          <a:latin typeface="Calibri"/>
                        </a:rPr>
                        <a:t>Van Thieu &amp; Mirjalili 2023</a:t>
                      </a:r>
                    </a:p>
                  </a:txBody>
                  <a:tcPr anchor="ctr">
                    <a:solidFill>
                      <a:srgbClr val="F6F8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